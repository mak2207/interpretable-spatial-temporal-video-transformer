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Helvetica World Bold" charset="1" panose="020B0800040000020004"/>
      <p:regular r:id="rId23"/>
    </p:embeddedFont>
    <p:embeddedFont>
      <p:font typeface="Public Sans Light" charset="1" panose="00000000000000000000"/>
      <p:regular r:id="rId24"/>
    </p:embeddedFont>
    <p:embeddedFont>
      <p:font typeface="TT Interphases" charset="1" panose="02000503020000020004"/>
      <p:regular r:id="rId25"/>
    </p:embeddedFont>
    <p:embeddedFont>
      <p:font typeface="Public Sans Bold" charset="1" panose="00000000000000000000"/>
      <p:regular r:id="rId26"/>
    </p:embeddedFont>
    <p:embeddedFont>
      <p:font typeface="Public Sans" charset="1" panose="00000000000000000000"/>
      <p:regular r:id="rId27"/>
    </p:embeddedFont>
    <p:embeddedFont>
      <p:font typeface="Inter" charset="1" panose="02000503000000020004"/>
      <p:regular r:id="rId28"/>
    </p:embeddedFont>
    <p:embeddedFont>
      <p:font typeface="Public Sans Light Italics" charset="1" panose="00000000000000000000"/>
      <p:regular r:id="rId29"/>
    </p:embeddedFont>
    <p:embeddedFont>
      <p:font typeface="Helvetica World" charset="1" panose="020B05000400000200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2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0" y="4976679"/>
            <a:ext cx="18288000" cy="4539527"/>
          </a:xfrm>
          <a:custGeom>
            <a:avLst/>
            <a:gdLst/>
            <a:ahLst/>
            <a:cxnLst/>
            <a:rect r="r" b="b" t="t" l="l"/>
            <a:pathLst>
              <a:path h="4539527" w="18288000">
                <a:moveTo>
                  <a:pt x="0" y="0"/>
                </a:moveTo>
                <a:lnTo>
                  <a:pt x="18288000" y="0"/>
                </a:lnTo>
                <a:lnTo>
                  <a:pt x="18288000" y="4539527"/>
                </a:lnTo>
                <a:lnTo>
                  <a:pt x="0" y="4539527"/>
                </a:lnTo>
                <a:lnTo>
                  <a:pt x="0" y="0"/>
                </a:lnTo>
                <a:close/>
              </a:path>
            </a:pathLst>
          </a:custGeom>
          <a:blipFill>
            <a:blip r:embed="rId3">
              <a:alphaModFix amt="70000"/>
            </a:blip>
            <a:stretch>
              <a:fillRect l="0" t="-112064" r="0" b="-56754"/>
            </a:stretch>
          </a:blipFill>
        </p:spPr>
      </p:sp>
      <p:grpSp>
        <p:nvGrpSpPr>
          <p:cNvPr name="Group 4" id="4"/>
          <p:cNvGrpSpPr/>
          <p:nvPr/>
        </p:nvGrpSpPr>
        <p:grpSpPr>
          <a:xfrm rot="0">
            <a:off x="845169" y="1832542"/>
            <a:ext cx="3340539" cy="757878"/>
            <a:chOff x="0" y="0"/>
            <a:chExt cx="1791311" cy="406400"/>
          </a:xfrm>
        </p:grpSpPr>
        <p:sp>
          <p:nvSpPr>
            <p:cNvPr name="Freeform 5" id="5"/>
            <p:cNvSpPr/>
            <p:nvPr/>
          </p:nvSpPr>
          <p:spPr>
            <a:xfrm flipH="false" flipV="false" rot="0">
              <a:off x="0" y="0"/>
              <a:ext cx="1791311" cy="406400"/>
            </a:xfrm>
            <a:custGeom>
              <a:avLst/>
              <a:gdLst/>
              <a:ahLst/>
              <a:cxnLst/>
              <a:rect r="r" b="b" t="t" l="l"/>
              <a:pathLst>
                <a:path h="406400" w="1791311">
                  <a:moveTo>
                    <a:pt x="1588111" y="0"/>
                  </a:moveTo>
                  <a:cubicBezTo>
                    <a:pt x="1700335" y="0"/>
                    <a:pt x="1791311" y="90976"/>
                    <a:pt x="1791311" y="203200"/>
                  </a:cubicBezTo>
                  <a:cubicBezTo>
                    <a:pt x="1791311" y="315424"/>
                    <a:pt x="1700335" y="406400"/>
                    <a:pt x="158811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miter/>
            </a:ln>
          </p:spPr>
        </p:sp>
        <p:sp>
          <p:nvSpPr>
            <p:cNvPr name="TextBox 6" id="6"/>
            <p:cNvSpPr txBox="true"/>
            <p:nvPr/>
          </p:nvSpPr>
          <p:spPr>
            <a:xfrm>
              <a:off x="0" y="-38100"/>
              <a:ext cx="1791311"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7" id="7"/>
          <p:cNvSpPr/>
          <p:nvPr/>
        </p:nvSpPr>
        <p:spPr>
          <a:xfrm flipV="true">
            <a:off x="4561396" y="4855981"/>
            <a:ext cx="4923362" cy="0"/>
          </a:xfrm>
          <a:prstGeom prst="line">
            <a:avLst/>
          </a:prstGeom>
          <a:ln cap="flat" w="19050">
            <a:solidFill>
              <a:srgbClr val="FFFFFF"/>
            </a:solidFill>
            <a:prstDash val="solid"/>
            <a:headEnd type="none" len="sm" w="sm"/>
            <a:tailEnd type="none" len="sm" w="sm"/>
          </a:ln>
        </p:spPr>
      </p:sp>
      <p:sp>
        <p:nvSpPr>
          <p:cNvPr name="Freeform 8" id="8"/>
          <p:cNvSpPr/>
          <p:nvPr/>
        </p:nvSpPr>
        <p:spPr>
          <a:xfrm flipH="false" flipV="false" rot="0">
            <a:off x="11444848" y="3250990"/>
            <a:ext cx="6123425" cy="6401762"/>
          </a:xfrm>
          <a:custGeom>
            <a:avLst/>
            <a:gdLst/>
            <a:ahLst/>
            <a:cxnLst/>
            <a:rect r="r" b="b" t="t" l="l"/>
            <a:pathLst>
              <a:path h="6401762" w="6123425">
                <a:moveTo>
                  <a:pt x="0" y="0"/>
                </a:moveTo>
                <a:lnTo>
                  <a:pt x="6123425" y="0"/>
                </a:lnTo>
                <a:lnTo>
                  <a:pt x="6123425" y="6401762"/>
                </a:lnTo>
                <a:lnTo>
                  <a:pt x="0" y="6401762"/>
                </a:lnTo>
                <a:lnTo>
                  <a:pt x="0" y="0"/>
                </a:lnTo>
                <a:close/>
              </a:path>
            </a:pathLst>
          </a:custGeom>
          <a:blipFill>
            <a:blip r:embed="rId4"/>
            <a:stretch>
              <a:fillRect l="0" t="0" r="0" b="0"/>
            </a:stretch>
          </a:blipFill>
        </p:spPr>
      </p:sp>
      <p:sp>
        <p:nvSpPr>
          <p:cNvPr name="TextBox 9" id="9"/>
          <p:cNvSpPr txBox="true"/>
          <p:nvPr/>
        </p:nvSpPr>
        <p:spPr>
          <a:xfrm rot="0">
            <a:off x="194523" y="306042"/>
            <a:ext cx="4366873" cy="911861"/>
          </a:xfrm>
          <a:prstGeom prst="rect">
            <a:avLst/>
          </a:prstGeom>
        </p:spPr>
        <p:txBody>
          <a:bodyPr anchor="t" rtlCol="false" tIns="0" lIns="0" bIns="0" rIns="0">
            <a:spAutoFit/>
          </a:bodyPr>
          <a:lstStyle/>
          <a:p>
            <a:pPr algn="l" marL="0" indent="0" lvl="0">
              <a:lnSpc>
                <a:spcPts val="3499"/>
              </a:lnSpc>
            </a:pPr>
            <a:r>
              <a:rPr lang="en-US" b="true" sz="2499" spc="-89">
                <a:solidFill>
                  <a:srgbClr val="FFFFFF"/>
                </a:solidFill>
                <a:latin typeface="Helvetica World Bold"/>
                <a:ea typeface="Helvetica World Bold"/>
                <a:cs typeface="Helvetica World Bold"/>
                <a:sym typeface="Helvetica World Bold"/>
              </a:rPr>
              <a:t>INDIAN INSTITUTE OF TECHNOLOGY KANPUR</a:t>
            </a:r>
          </a:p>
        </p:txBody>
      </p:sp>
      <p:sp>
        <p:nvSpPr>
          <p:cNvPr name="TextBox 10" id="10"/>
          <p:cNvSpPr txBox="true"/>
          <p:nvPr/>
        </p:nvSpPr>
        <p:spPr>
          <a:xfrm rot="0">
            <a:off x="1381790" y="1775392"/>
            <a:ext cx="2267298" cy="835209"/>
          </a:xfrm>
          <a:prstGeom prst="rect">
            <a:avLst/>
          </a:prstGeom>
        </p:spPr>
        <p:txBody>
          <a:bodyPr anchor="t" rtlCol="false" tIns="0" lIns="0" bIns="0" rIns="0">
            <a:spAutoFit/>
          </a:bodyPr>
          <a:lstStyle/>
          <a:p>
            <a:pPr algn="ctr" marL="0" indent="0" lvl="0">
              <a:lnSpc>
                <a:spcPts val="3314"/>
              </a:lnSpc>
            </a:pPr>
            <a:r>
              <a:rPr lang="en-US" sz="2367" spc="-149">
                <a:solidFill>
                  <a:srgbClr val="F9F9F9"/>
                </a:solidFill>
                <a:latin typeface="Public Sans Light"/>
                <a:ea typeface="Public Sans Light"/>
                <a:cs typeface="Public Sans Light"/>
                <a:sym typeface="Public Sans Light"/>
              </a:rPr>
              <a:t>Research Paper by</a:t>
            </a:r>
          </a:p>
        </p:txBody>
      </p:sp>
      <p:sp>
        <p:nvSpPr>
          <p:cNvPr name="TextBox 11" id="11"/>
          <p:cNvSpPr txBox="true"/>
          <p:nvPr/>
        </p:nvSpPr>
        <p:spPr>
          <a:xfrm rot="0">
            <a:off x="199834" y="5774995"/>
            <a:ext cx="10957791" cy="980275"/>
          </a:xfrm>
          <a:prstGeom prst="rect">
            <a:avLst/>
          </a:prstGeom>
        </p:spPr>
        <p:txBody>
          <a:bodyPr anchor="t" rtlCol="false" tIns="0" lIns="0" bIns="0" rIns="0">
            <a:spAutoFit/>
          </a:bodyPr>
          <a:lstStyle/>
          <a:p>
            <a:pPr algn="l" marL="0" indent="0" lvl="0">
              <a:lnSpc>
                <a:spcPts val="7169"/>
              </a:lnSpc>
            </a:pPr>
            <a:r>
              <a:rPr lang="en-US" sz="7965" spc="-477">
                <a:solidFill>
                  <a:srgbClr val="FFFFFF"/>
                </a:solidFill>
                <a:latin typeface="TT Interphases"/>
                <a:ea typeface="TT Interphases"/>
                <a:cs typeface="TT Interphases"/>
                <a:sym typeface="TT Interphases"/>
              </a:rPr>
              <a:t>ISTVT</a:t>
            </a:r>
          </a:p>
        </p:txBody>
      </p:sp>
      <p:sp>
        <p:nvSpPr>
          <p:cNvPr name="TextBox 12" id="12"/>
          <p:cNvSpPr txBox="true"/>
          <p:nvPr/>
        </p:nvSpPr>
        <p:spPr>
          <a:xfrm rot="0">
            <a:off x="199834" y="7021970"/>
            <a:ext cx="11245014" cy="1132845"/>
          </a:xfrm>
          <a:prstGeom prst="rect">
            <a:avLst/>
          </a:prstGeom>
        </p:spPr>
        <p:txBody>
          <a:bodyPr anchor="t" rtlCol="false" tIns="0" lIns="0" bIns="0" rIns="0">
            <a:spAutoFit/>
          </a:bodyPr>
          <a:lstStyle/>
          <a:p>
            <a:pPr algn="l" marL="0" indent="0" lvl="0">
              <a:lnSpc>
                <a:spcPts val="8332"/>
              </a:lnSpc>
            </a:pPr>
            <a:r>
              <a:rPr lang="en-US" sz="9258" spc="-555">
                <a:solidFill>
                  <a:srgbClr val="FFFFFF"/>
                </a:solidFill>
                <a:latin typeface="TT Interphases"/>
                <a:ea typeface="TT Interphases"/>
                <a:cs typeface="TT Interphases"/>
                <a:sym typeface="TT Interphases"/>
              </a:rPr>
              <a:t>DEEPFAKE DETECTION</a:t>
            </a:r>
          </a:p>
        </p:txBody>
      </p:sp>
      <p:sp>
        <p:nvSpPr>
          <p:cNvPr name="TextBox 13" id="13"/>
          <p:cNvSpPr txBox="true"/>
          <p:nvPr/>
        </p:nvSpPr>
        <p:spPr>
          <a:xfrm rot="0">
            <a:off x="4561396" y="1685917"/>
            <a:ext cx="7336099" cy="3046239"/>
          </a:xfrm>
          <a:prstGeom prst="rect">
            <a:avLst/>
          </a:prstGeom>
        </p:spPr>
        <p:txBody>
          <a:bodyPr anchor="t" rtlCol="false" tIns="0" lIns="0" bIns="0" rIns="0">
            <a:spAutoFit/>
          </a:bodyPr>
          <a:lstStyle/>
          <a:p>
            <a:pPr algn="just" marL="0" indent="0" lvl="0">
              <a:lnSpc>
                <a:spcPts val="4822"/>
              </a:lnSpc>
            </a:pPr>
            <a:r>
              <a:rPr lang="en-US" b="true" sz="3444" spc="-151">
                <a:solidFill>
                  <a:srgbClr val="FFFFFF"/>
                </a:solidFill>
                <a:latin typeface="Public Sans Bold"/>
                <a:ea typeface="Public Sans Bold"/>
                <a:cs typeface="Public Sans Bold"/>
                <a:sym typeface="Public Sans Bold"/>
              </a:rPr>
              <a:t>Sushant Kumar</a:t>
            </a:r>
          </a:p>
          <a:p>
            <a:pPr algn="just" marL="0" indent="0" lvl="0">
              <a:lnSpc>
                <a:spcPts val="4822"/>
              </a:lnSpc>
            </a:pPr>
            <a:r>
              <a:rPr lang="en-US" b="true" sz="3444" spc="-151">
                <a:solidFill>
                  <a:srgbClr val="FFFFFF"/>
                </a:solidFill>
                <a:latin typeface="Public Sans Bold"/>
                <a:ea typeface="Public Sans Bold"/>
                <a:cs typeface="Public Sans Bold"/>
                <a:sym typeface="Public Sans Bold"/>
              </a:rPr>
              <a:t>Roushan Raj</a:t>
            </a:r>
          </a:p>
          <a:p>
            <a:pPr algn="just" marL="0" indent="0" lvl="0">
              <a:lnSpc>
                <a:spcPts val="4822"/>
              </a:lnSpc>
            </a:pPr>
            <a:r>
              <a:rPr lang="en-US" b="true" sz="3444" spc="-151">
                <a:solidFill>
                  <a:srgbClr val="FFFFFF"/>
                </a:solidFill>
                <a:latin typeface="Public Sans Bold"/>
                <a:ea typeface="Public Sans Bold"/>
                <a:cs typeface="Public Sans Bold"/>
                <a:sym typeface="Public Sans Bold"/>
              </a:rPr>
              <a:t>Abhishek Kumar</a:t>
            </a:r>
          </a:p>
          <a:p>
            <a:pPr algn="just" marL="0" indent="0" lvl="0">
              <a:lnSpc>
                <a:spcPts val="4822"/>
              </a:lnSpc>
            </a:pPr>
            <a:r>
              <a:rPr lang="en-US" b="true" sz="3444" spc="-151">
                <a:solidFill>
                  <a:srgbClr val="FFFFFF"/>
                </a:solidFill>
                <a:latin typeface="Public Sans Bold"/>
                <a:ea typeface="Public Sans Bold"/>
                <a:cs typeface="Public Sans Bold"/>
                <a:sym typeface="Public Sans Bold"/>
              </a:rPr>
              <a:t>Shivam Yadav</a:t>
            </a:r>
          </a:p>
          <a:p>
            <a:pPr algn="just" marL="0" indent="0" lvl="0">
              <a:lnSpc>
                <a:spcPts val="4822"/>
              </a:lnSpc>
            </a:pPr>
            <a:r>
              <a:rPr lang="en-US" b="true" sz="3444" spc="-151">
                <a:solidFill>
                  <a:srgbClr val="FFFFFF"/>
                </a:solidFill>
                <a:latin typeface="Public Sans Bold"/>
                <a:ea typeface="Public Sans Bold"/>
                <a:cs typeface="Public Sans Bold"/>
                <a:sym typeface="Public Sans Bold"/>
              </a:rPr>
              <a:t>Manish Kumar Meena</a:t>
            </a:r>
          </a:p>
        </p:txBody>
      </p:sp>
      <p:sp>
        <p:nvSpPr>
          <p:cNvPr name="TextBox 14" id="14"/>
          <p:cNvSpPr txBox="true"/>
          <p:nvPr/>
        </p:nvSpPr>
        <p:spPr>
          <a:xfrm rot="0">
            <a:off x="13752824" y="221471"/>
            <a:ext cx="4115179" cy="807229"/>
          </a:xfrm>
          <a:prstGeom prst="rect">
            <a:avLst/>
          </a:prstGeom>
        </p:spPr>
        <p:txBody>
          <a:bodyPr anchor="t" rtlCol="false" tIns="0" lIns="0" bIns="0" rIns="0">
            <a:spAutoFit/>
          </a:bodyPr>
          <a:lstStyle/>
          <a:p>
            <a:pPr algn="r" marL="0" indent="0" lvl="0">
              <a:lnSpc>
                <a:spcPts val="3282"/>
              </a:lnSpc>
            </a:pPr>
            <a:r>
              <a:rPr lang="en-US" b="true" sz="2344" spc="-103">
                <a:solidFill>
                  <a:srgbClr val="FFFFFF"/>
                </a:solidFill>
                <a:latin typeface="Public Sans Bold"/>
                <a:ea typeface="Public Sans Bold"/>
                <a:cs typeface="Public Sans Bold"/>
                <a:sym typeface="Public Sans Bold"/>
              </a:rPr>
              <a:t>A PyTorch Reimplementation and Empirical Study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0" y="1408229"/>
            <a:ext cx="18288000" cy="1955360"/>
          </a:xfrm>
          <a:custGeom>
            <a:avLst/>
            <a:gdLst/>
            <a:ahLst/>
            <a:cxnLst/>
            <a:rect r="r" b="b" t="t" l="l"/>
            <a:pathLst>
              <a:path h="1955360" w="18288000">
                <a:moveTo>
                  <a:pt x="0" y="0"/>
                </a:moveTo>
                <a:lnTo>
                  <a:pt x="18288000" y="0"/>
                </a:lnTo>
                <a:lnTo>
                  <a:pt x="18288000" y="1955360"/>
                </a:lnTo>
                <a:lnTo>
                  <a:pt x="0" y="1955360"/>
                </a:lnTo>
                <a:lnTo>
                  <a:pt x="0" y="0"/>
                </a:lnTo>
                <a:close/>
              </a:path>
            </a:pathLst>
          </a:custGeom>
          <a:blipFill>
            <a:blip r:embed="rId3">
              <a:alphaModFix amt="70000"/>
            </a:blip>
            <a:stretch>
              <a:fillRect l="-61654" t="-100395" r="0" b="-808461"/>
            </a:stretch>
          </a:blipFill>
        </p:spPr>
      </p:sp>
      <p:sp>
        <p:nvSpPr>
          <p:cNvPr name="TextBox 4" id="4"/>
          <p:cNvSpPr txBox="true"/>
          <p:nvPr/>
        </p:nvSpPr>
        <p:spPr>
          <a:xfrm rot="0">
            <a:off x="1028700" y="1760654"/>
            <a:ext cx="16633798" cy="1541808"/>
          </a:xfrm>
          <a:prstGeom prst="rect">
            <a:avLst/>
          </a:prstGeom>
        </p:spPr>
        <p:txBody>
          <a:bodyPr anchor="t" rtlCol="false" tIns="0" lIns="0" bIns="0" rIns="0">
            <a:spAutoFit/>
          </a:bodyPr>
          <a:lstStyle/>
          <a:p>
            <a:pPr algn="ctr" marL="0" indent="0" lvl="0">
              <a:lnSpc>
                <a:spcPts val="11220"/>
              </a:lnSpc>
            </a:pPr>
            <a:r>
              <a:rPr lang="en-US" sz="12467" spc="-748">
                <a:solidFill>
                  <a:srgbClr val="FFFFFF"/>
                </a:solidFill>
                <a:latin typeface="TT Interphases"/>
                <a:ea typeface="TT Interphases"/>
                <a:cs typeface="TT Interphases"/>
                <a:sym typeface="TT Interphases"/>
              </a:rPr>
              <a:t>AGENDA OVERVIEW</a:t>
            </a:r>
          </a:p>
        </p:txBody>
      </p:sp>
      <p:grpSp>
        <p:nvGrpSpPr>
          <p:cNvPr name="Group 5" id="5"/>
          <p:cNvGrpSpPr/>
          <p:nvPr/>
        </p:nvGrpSpPr>
        <p:grpSpPr>
          <a:xfrm rot="0">
            <a:off x="1054784" y="3973189"/>
            <a:ext cx="5896052" cy="863142"/>
            <a:chOff x="0" y="0"/>
            <a:chExt cx="2776086" cy="406400"/>
          </a:xfrm>
        </p:grpSpPr>
        <p:sp>
          <p:nvSpPr>
            <p:cNvPr name="Freeform 6" id="6"/>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7" id="7"/>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766606" y="5396833"/>
            <a:ext cx="5896052" cy="863142"/>
            <a:chOff x="0" y="0"/>
            <a:chExt cx="2776086" cy="406400"/>
          </a:xfrm>
        </p:grpSpPr>
        <p:sp>
          <p:nvSpPr>
            <p:cNvPr name="Freeform 9" id="9"/>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10" id="10"/>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227781" y="3973189"/>
            <a:ext cx="5896052" cy="863142"/>
            <a:chOff x="0" y="0"/>
            <a:chExt cx="2776086" cy="406400"/>
          </a:xfrm>
        </p:grpSpPr>
        <p:sp>
          <p:nvSpPr>
            <p:cNvPr name="Freeform 12" id="12"/>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13" id="13"/>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9939604" y="5396833"/>
            <a:ext cx="5896052" cy="863142"/>
            <a:chOff x="0" y="0"/>
            <a:chExt cx="2776086" cy="406400"/>
          </a:xfrm>
        </p:grpSpPr>
        <p:sp>
          <p:nvSpPr>
            <p:cNvPr name="Freeform 15" id="15"/>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16" id="16"/>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17" id="17"/>
          <p:cNvSpPr/>
          <p:nvPr/>
        </p:nvSpPr>
        <p:spPr>
          <a:xfrm>
            <a:off x="1028700" y="5140505"/>
            <a:ext cx="16230600" cy="0"/>
          </a:xfrm>
          <a:prstGeom prst="line">
            <a:avLst/>
          </a:prstGeom>
          <a:ln cap="flat" w="9525">
            <a:solidFill>
              <a:srgbClr val="FFFFFF">
                <a:alpha val="34902"/>
              </a:srgbClr>
            </a:solidFill>
            <a:prstDash val="solid"/>
            <a:headEnd type="none" len="sm" w="sm"/>
            <a:tailEnd type="none" len="sm" w="sm"/>
          </a:ln>
        </p:spPr>
      </p:sp>
      <p:sp>
        <p:nvSpPr>
          <p:cNvPr name="AutoShape 18" id="18"/>
          <p:cNvSpPr/>
          <p:nvPr/>
        </p:nvSpPr>
        <p:spPr>
          <a:xfrm>
            <a:off x="1028700" y="6511516"/>
            <a:ext cx="16230600" cy="0"/>
          </a:xfrm>
          <a:prstGeom prst="line">
            <a:avLst/>
          </a:prstGeom>
          <a:ln cap="flat" w="9525">
            <a:solidFill>
              <a:srgbClr val="FFFFFF">
                <a:alpha val="34902"/>
              </a:srgbClr>
            </a:solidFill>
            <a:prstDash val="solid"/>
            <a:headEnd type="none" len="sm" w="sm"/>
            <a:tailEnd type="none" len="sm" w="sm"/>
          </a:ln>
        </p:spPr>
      </p:sp>
      <p:sp>
        <p:nvSpPr>
          <p:cNvPr name="AutoShape 19" id="19"/>
          <p:cNvSpPr/>
          <p:nvPr/>
        </p:nvSpPr>
        <p:spPr>
          <a:xfrm>
            <a:off x="1028700" y="7882527"/>
            <a:ext cx="16230600" cy="0"/>
          </a:xfrm>
          <a:prstGeom prst="line">
            <a:avLst/>
          </a:prstGeom>
          <a:ln cap="flat" w="9525">
            <a:solidFill>
              <a:srgbClr val="FFFFFF">
                <a:alpha val="34902"/>
              </a:srgbClr>
            </a:solidFill>
            <a:prstDash val="solid"/>
            <a:headEnd type="none" len="sm" w="sm"/>
            <a:tailEnd type="none" len="sm" w="sm"/>
          </a:ln>
        </p:spPr>
      </p:sp>
      <p:sp>
        <p:nvSpPr>
          <p:cNvPr name="AutoShape 20" id="20"/>
          <p:cNvSpPr/>
          <p:nvPr/>
        </p:nvSpPr>
        <p:spPr>
          <a:xfrm>
            <a:off x="1028700" y="9253537"/>
            <a:ext cx="16230600" cy="0"/>
          </a:xfrm>
          <a:prstGeom prst="line">
            <a:avLst/>
          </a:prstGeom>
          <a:ln cap="flat" w="9525">
            <a:solidFill>
              <a:srgbClr val="FFFFFF">
                <a:alpha val="34902"/>
              </a:srgbClr>
            </a:solidFill>
            <a:prstDash val="solid"/>
            <a:headEnd type="none" len="sm" w="sm"/>
            <a:tailEnd type="none" len="sm" w="sm"/>
          </a:ln>
        </p:spPr>
      </p:sp>
      <p:grpSp>
        <p:nvGrpSpPr>
          <p:cNvPr name="Group 21" id="21"/>
          <p:cNvGrpSpPr/>
          <p:nvPr/>
        </p:nvGrpSpPr>
        <p:grpSpPr>
          <a:xfrm rot="0">
            <a:off x="2478428" y="6820478"/>
            <a:ext cx="5896052" cy="863142"/>
            <a:chOff x="0" y="0"/>
            <a:chExt cx="2776086" cy="406400"/>
          </a:xfrm>
        </p:grpSpPr>
        <p:sp>
          <p:nvSpPr>
            <p:cNvPr name="Freeform 22" id="22"/>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23" id="23"/>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4" id="24"/>
          <p:cNvGrpSpPr/>
          <p:nvPr/>
        </p:nvGrpSpPr>
        <p:grpSpPr>
          <a:xfrm rot="0">
            <a:off x="10651426" y="6820478"/>
            <a:ext cx="5896052" cy="863142"/>
            <a:chOff x="0" y="0"/>
            <a:chExt cx="2776086" cy="406400"/>
          </a:xfrm>
        </p:grpSpPr>
        <p:sp>
          <p:nvSpPr>
            <p:cNvPr name="Freeform 25" id="25"/>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26" id="26"/>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7" id="27"/>
          <p:cNvGrpSpPr/>
          <p:nvPr/>
        </p:nvGrpSpPr>
        <p:grpSpPr>
          <a:xfrm rot="0">
            <a:off x="3190250" y="8244122"/>
            <a:ext cx="5896052" cy="863142"/>
            <a:chOff x="0" y="0"/>
            <a:chExt cx="2776086" cy="406400"/>
          </a:xfrm>
        </p:grpSpPr>
        <p:sp>
          <p:nvSpPr>
            <p:cNvPr name="Freeform 28" id="28"/>
            <p:cNvSpPr/>
            <p:nvPr/>
          </p:nvSpPr>
          <p:spPr>
            <a:xfrm flipH="false" flipV="false" rot="0">
              <a:off x="0" y="0"/>
              <a:ext cx="2776086" cy="406400"/>
            </a:xfrm>
            <a:custGeom>
              <a:avLst/>
              <a:gdLst/>
              <a:ahLst/>
              <a:cxnLst/>
              <a:rect r="r" b="b" t="t" l="l"/>
              <a:pathLst>
                <a:path h="406400" w="2776086">
                  <a:moveTo>
                    <a:pt x="2572886" y="0"/>
                  </a:moveTo>
                  <a:cubicBezTo>
                    <a:pt x="2685110" y="0"/>
                    <a:pt x="2776086" y="90976"/>
                    <a:pt x="2776086" y="203200"/>
                  </a:cubicBezTo>
                  <a:cubicBezTo>
                    <a:pt x="2776086" y="315424"/>
                    <a:pt x="2685110" y="406400"/>
                    <a:pt x="2572886"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solidFill>
                <a:srgbClr val="F2FFF2"/>
              </a:solidFill>
              <a:prstDash val="solid"/>
              <a:miter/>
            </a:ln>
          </p:spPr>
        </p:sp>
        <p:sp>
          <p:nvSpPr>
            <p:cNvPr name="TextBox 29" id="29"/>
            <p:cNvSpPr txBox="true"/>
            <p:nvPr/>
          </p:nvSpPr>
          <p:spPr>
            <a:xfrm>
              <a:off x="0" y="-38100"/>
              <a:ext cx="2776086"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0" id="30"/>
          <p:cNvGrpSpPr/>
          <p:nvPr/>
        </p:nvGrpSpPr>
        <p:grpSpPr>
          <a:xfrm rot="0">
            <a:off x="6545771" y="3980645"/>
            <a:ext cx="810129" cy="810129"/>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3" id="33"/>
          <p:cNvGrpSpPr/>
          <p:nvPr/>
        </p:nvGrpSpPr>
        <p:grpSpPr>
          <a:xfrm rot="0">
            <a:off x="7249079" y="5423340"/>
            <a:ext cx="810129" cy="810129"/>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6" id="36"/>
          <p:cNvGrpSpPr/>
          <p:nvPr/>
        </p:nvGrpSpPr>
        <p:grpSpPr>
          <a:xfrm rot="0">
            <a:off x="14707943" y="3980645"/>
            <a:ext cx="810129" cy="810129"/>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9" id="39"/>
          <p:cNvGrpSpPr/>
          <p:nvPr/>
        </p:nvGrpSpPr>
        <p:grpSpPr>
          <a:xfrm rot="0">
            <a:off x="15411251" y="5423340"/>
            <a:ext cx="810129" cy="810129"/>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2" id="42"/>
          <p:cNvGrpSpPr/>
          <p:nvPr/>
        </p:nvGrpSpPr>
        <p:grpSpPr>
          <a:xfrm rot="0">
            <a:off x="7952388" y="6847750"/>
            <a:ext cx="810129" cy="810129"/>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5" id="45"/>
          <p:cNvGrpSpPr/>
          <p:nvPr/>
        </p:nvGrpSpPr>
        <p:grpSpPr>
          <a:xfrm rot="0">
            <a:off x="16114559" y="6847750"/>
            <a:ext cx="810129" cy="810129"/>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48" id="48"/>
          <p:cNvGrpSpPr/>
          <p:nvPr/>
        </p:nvGrpSpPr>
        <p:grpSpPr>
          <a:xfrm rot="0">
            <a:off x="8655696" y="8270628"/>
            <a:ext cx="810129" cy="810129"/>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33E64"/>
            </a:solidFill>
            <a:ln w="9525" cap="sq">
              <a:solidFill>
                <a:srgbClr val="FFFFFF"/>
              </a:solidFill>
              <a:prstDash val="solid"/>
              <a:miter/>
            </a:ln>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1" id="51"/>
          <p:cNvSpPr txBox="true"/>
          <p:nvPr/>
        </p:nvSpPr>
        <p:spPr>
          <a:xfrm rot="0">
            <a:off x="1458562" y="4084610"/>
            <a:ext cx="4576308" cy="399059"/>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Public Sans"/>
                <a:ea typeface="Public Sans"/>
                <a:cs typeface="Public Sans"/>
                <a:sym typeface="Public Sans"/>
              </a:rPr>
              <a:t>The Deepfake Detection Problem</a:t>
            </a:r>
          </a:p>
        </p:txBody>
      </p:sp>
      <p:sp>
        <p:nvSpPr>
          <p:cNvPr name="TextBox 52" id="52"/>
          <p:cNvSpPr txBox="true"/>
          <p:nvPr/>
        </p:nvSpPr>
        <p:spPr>
          <a:xfrm rot="0">
            <a:off x="2161870" y="5527304"/>
            <a:ext cx="4576308" cy="399059"/>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Public Sans"/>
                <a:ea typeface="Public Sans"/>
                <a:cs typeface="Public Sans"/>
                <a:sym typeface="Public Sans"/>
              </a:rPr>
              <a:t>Our Reimplementation Approach</a:t>
            </a:r>
          </a:p>
        </p:txBody>
      </p:sp>
      <p:sp>
        <p:nvSpPr>
          <p:cNvPr name="TextBox 53" id="53"/>
          <p:cNvSpPr txBox="true"/>
          <p:nvPr/>
        </p:nvSpPr>
        <p:spPr>
          <a:xfrm rot="0">
            <a:off x="9620734" y="4094135"/>
            <a:ext cx="4576308" cy="390812"/>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Inter"/>
                <a:ea typeface="Inter"/>
                <a:cs typeface="Inter"/>
                <a:sym typeface="Inter"/>
              </a:rPr>
              <a:t>ISTVT Architecture Overview</a:t>
            </a:r>
          </a:p>
        </p:txBody>
      </p:sp>
      <p:sp>
        <p:nvSpPr>
          <p:cNvPr name="TextBox 54" id="54"/>
          <p:cNvSpPr txBox="true"/>
          <p:nvPr/>
        </p:nvSpPr>
        <p:spPr>
          <a:xfrm rot="0">
            <a:off x="10324042" y="5527304"/>
            <a:ext cx="4576308" cy="399059"/>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Public Sans"/>
                <a:ea typeface="Public Sans"/>
                <a:cs typeface="Public Sans"/>
                <a:sym typeface="Public Sans"/>
              </a:rPr>
              <a:t>Dataset and Experimental Setup</a:t>
            </a:r>
          </a:p>
        </p:txBody>
      </p:sp>
      <p:sp>
        <p:nvSpPr>
          <p:cNvPr name="TextBox 55" id="55"/>
          <p:cNvSpPr txBox="true"/>
          <p:nvPr/>
        </p:nvSpPr>
        <p:spPr>
          <a:xfrm rot="0">
            <a:off x="6545771" y="4084610"/>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01</a:t>
            </a:r>
          </a:p>
        </p:txBody>
      </p:sp>
      <p:sp>
        <p:nvSpPr>
          <p:cNvPr name="TextBox 56" id="56"/>
          <p:cNvSpPr txBox="true"/>
          <p:nvPr/>
        </p:nvSpPr>
        <p:spPr>
          <a:xfrm rot="0">
            <a:off x="7249079" y="5527304"/>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03</a:t>
            </a:r>
          </a:p>
        </p:txBody>
      </p:sp>
      <p:sp>
        <p:nvSpPr>
          <p:cNvPr name="TextBox 57" id="57"/>
          <p:cNvSpPr txBox="true"/>
          <p:nvPr/>
        </p:nvSpPr>
        <p:spPr>
          <a:xfrm rot="0">
            <a:off x="14707943" y="4084610"/>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02</a:t>
            </a:r>
          </a:p>
        </p:txBody>
      </p:sp>
      <p:sp>
        <p:nvSpPr>
          <p:cNvPr name="TextBox 58" id="58"/>
          <p:cNvSpPr txBox="true"/>
          <p:nvPr/>
        </p:nvSpPr>
        <p:spPr>
          <a:xfrm rot="0">
            <a:off x="15411251" y="5527304"/>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04</a:t>
            </a:r>
          </a:p>
        </p:txBody>
      </p:sp>
      <p:sp>
        <p:nvSpPr>
          <p:cNvPr name="TextBox 59" id="59"/>
          <p:cNvSpPr txBox="true"/>
          <p:nvPr/>
        </p:nvSpPr>
        <p:spPr>
          <a:xfrm rot="0">
            <a:off x="2865178" y="6951714"/>
            <a:ext cx="4576308" cy="399059"/>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Public Sans"/>
                <a:ea typeface="Public Sans"/>
                <a:cs typeface="Public Sans"/>
                <a:sym typeface="Public Sans"/>
              </a:rPr>
              <a:t>Results and Ablation Studies</a:t>
            </a:r>
          </a:p>
        </p:txBody>
      </p:sp>
      <p:sp>
        <p:nvSpPr>
          <p:cNvPr name="TextBox 60" id="60"/>
          <p:cNvSpPr txBox="true"/>
          <p:nvPr/>
        </p:nvSpPr>
        <p:spPr>
          <a:xfrm rot="0">
            <a:off x="11027350" y="6951714"/>
            <a:ext cx="4576308" cy="399059"/>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Public Sans"/>
                <a:ea typeface="Public Sans"/>
                <a:cs typeface="Public Sans"/>
                <a:sym typeface="Public Sans"/>
              </a:rPr>
              <a:t>Interpretability via Relevance Propagation</a:t>
            </a:r>
          </a:p>
        </p:txBody>
      </p:sp>
      <p:sp>
        <p:nvSpPr>
          <p:cNvPr name="TextBox 61" id="61"/>
          <p:cNvSpPr txBox="true"/>
          <p:nvPr/>
        </p:nvSpPr>
        <p:spPr>
          <a:xfrm rot="0">
            <a:off x="7952388" y="6951714"/>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05</a:t>
            </a:r>
          </a:p>
        </p:txBody>
      </p:sp>
      <p:sp>
        <p:nvSpPr>
          <p:cNvPr name="TextBox 62" id="62"/>
          <p:cNvSpPr txBox="true"/>
          <p:nvPr/>
        </p:nvSpPr>
        <p:spPr>
          <a:xfrm rot="0">
            <a:off x="16114559" y="6951714"/>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06</a:t>
            </a:r>
          </a:p>
        </p:txBody>
      </p:sp>
      <p:sp>
        <p:nvSpPr>
          <p:cNvPr name="TextBox 63" id="63"/>
          <p:cNvSpPr txBox="true"/>
          <p:nvPr/>
        </p:nvSpPr>
        <p:spPr>
          <a:xfrm rot="0">
            <a:off x="3568486" y="8374593"/>
            <a:ext cx="4576308" cy="399059"/>
          </a:xfrm>
          <a:prstGeom prst="rect">
            <a:avLst/>
          </a:prstGeom>
        </p:spPr>
        <p:txBody>
          <a:bodyPr anchor="t" rtlCol="false" tIns="0" lIns="0" bIns="0" rIns="0">
            <a:spAutoFit/>
          </a:bodyPr>
          <a:lstStyle/>
          <a:p>
            <a:pPr algn="l" marL="0" indent="0" lvl="0">
              <a:lnSpc>
                <a:spcPts val="3204"/>
              </a:lnSpc>
            </a:pPr>
            <a:r>
              <a:rPr lang="en-US" sz="2289" spc="-210">
                <a:solidFill>
                  <a:srgbClr val="F2FFF2"/>
                </a:solidFill>
                <a:latin typeface="Public Sans"/>
                <a:ea typeface="Public Sans"/>
                <a:cs typeface="Public Sans"/>
                <a:sym typeface="Public Sans"/>
              </a:rPr>
              <a:t>Limitations and Future Work</a:t>
            </a:r>
          </a:p>
        </p:txBody>
      </p:sp>
      <p:sp>
        <p:nvSpPr>
          <p:cNvPr name="TextBox 64" id="64"/>
          <p:cNvSpPr txBox="true"/>
          <p:nvPr/>
        </p:nvSpPr>
        <p:spPr>
          <a:xfrm rot="0">
            <a:off x="8655696" y="8374593"/>
            <a:ext cx="810129" cy="399059"/>
          </a:xfrm>
          <a:prstGeom prst="rect">
            <a:avLst/>
          </a:prstGeom>
        </p:spPr>
        <p:txBody>
          <a:bodyPr anchor="t" rtlCol="false" tIns="0" lIns="0" bIns="0" rIns="0">
            <a:spAutoFit/>
          </a:bodyPr>
          <a:lstStyle/>
          <a:p>
            <a:pPr algn="ctr" marL="0" indent="0" lvl="0">
              <a:lnSpc>
                <a:spcPts val="3204"/>
              </a:lnSpc>
            </a:pPr>
            <a:r>
              <a:rPr lang="en-US" sz="2289" spc="-210">
                <a:solidFill>
                  <a:srgbClr val="FFFFFF"/>
                </a:solidFill>
                <a:latin typeface="Public Sans"/>
                <a:ea typeface="Public Sans"/>
                <a:cs typeface="Public Sans"/>
                <a:sym typeface="Public Sans"/>
              </a:rPr>
              <a:t>07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028700" y="1028700"/>
            <a:ext cx="12518964" cy="3188105"/>
          </a:xfrm>
          <a:custGeom>
            <a:avLst/>
            <a:gdLst/>
            <a:ahLst/>
            <a:cxnLst/>
            <a:rect r="r" b="b" t="t" l="l"/>
            <a:pathLst>
              <a:path h="3188105" w="12518964">
                <a:moveTo>
                  <a:pt x="0" y="0"/>
                </a:moveTo>
                <a:lnTo>
                  <a:pt x="12518964" y="0"/>
                </a:lnTo>
                <a:lnTo>
                  <a:pt x="12518964" y="3188105"/>
                </a:lnTo>
                <a:lnTo>
                  <a:pt x="0" y="3188105"/>
                </a:lnTo>
                <a:lnTo>
                  <a:pt x="0" y="0"/>
                </a:lnTo>
                <a:close/>
              </a:path>
            </a:pathLst>
          </a:custGeom>
          <a:blipFill>
            <a:blip r:embed="rId3">
              <a:alphaModFix amt="70000"/>
            </a:blip>
            <a:stretch>
              <a:fillRect l="-84370" t="-61575" r="-51778" b="-457186"/>
            </a:stretch>
          </a:blipFill>
        </p:spPr>
      </p:sp>
      <p:sp>
        <p:nvSpPr>
          <p:cNvPr name="TextBox 4" id="4"/>
          <p:cNvSpPr txBox="true"/>
          <p:nvPr/>
        </p:nvSpPr>
        <p:spPr>
          <a:xfrm rot="0">
            <a:off x="1509613" y="1371600"/>
            <a:ext cx="12312515" cy="2844881"/>
          </a:xfrm>
          <a:prstGeom prst="rect">
            <a:avLst/>
          </a:prstGeom>
        </p:spPr>
        <p:txBody>
          <a:bodyPr anchor="t" rtlCol="false" tIns="0" lIns="0" bIns="0" rIns="0">
            <a:spAutoFit/>
          </a:bodyPr>
          <a:lstStyle/>
          <a:p>
            <a:pPr algn="l" marL="0" indent="0" lvl="0">
              <a:lnSpc>
                <a:spcPts val="10815"/>
              </a:lnSpc>
            </a:pPr>
            <a:r>
              <a:rPr lang="en-US" sz="12017" spc="-721">
                <a:solidFill>
                  <a:srgbClr val="FFFFFF"/>
                </a:solidFill>
                <a:latin typeface="TT Interphases"/>
                <a:ea typeface="TT Interphases"/>
                <a:cs typeface="TT Interphases"/>
                <a:sym typeface="TT Interphases"/>
              </a:rPr>
              <a:t>THE DEEPFAKE</a:t>
            </a:r>
          </a:p>
          <a:p>
            <a:pPr algn="l" marL="0" indent="0" lvl="0">
              <a:lnSpc>
                <a:spcPts val="10815"/>
              </a:lnSpc>
            </a:pPr>
            <a:r>
              <a:rPr lang="en-US" sz="12017" spc="-721">
                <a:solidFill>
                  <a:srgbClr val="FFFFFF"/>
                </a:solidFill>
                <a:latin typeface="TT Interphases"/>
                <a:ea typeface="TT Interphases"/>
                <a:cs typeface="TT Interphases"/>
                <a:sym typeface="TT Interphases"/>
              </a:rPr>
              <a:t>THREAT</a:t>
            </a:r>
          </a:p>
        </p:txBody>
      </p:sp>
      <p:grpSp>
        <p:nvGrpSpPr>
          <p:cNvPr name="Group 5" id="5"/>
          <p:cNvGrpSpPr/>
          <p:nvPr/>
        </p:nvGrpSpPr>
        <p:grpSpPr>
          <a:xfrm rot="0">
            <a:off x="11098007" y="3426361"/>
            <a:ext cx="5448243" cy="5831939"/>
            <a:chOff x="0" y="0"/>
            <a:chExt cx="844075" cy="903520"/>
          </a:xfrm>
        </p:grpSpPr>
        <p:sp>
          <p:nvSpPr>
            <p:cNvPr name="Freeform 6" id="6"/>
            <p:cNvSpPr/>
            <p:nvPr/>
          </p:nvSpPr>
          <p:spPr>
            <a:xfrm flipH="false" flipV="false" rot="0">
              <a:off x="0" y="0"/>
              <a:ext cx="844075" cy="903520"/>
            </a:xfrm>
            <a:custGeom>
              <a:avLst/>
              <a:gdLst/>
              <a:ahLst/>
              <a:cxnLst/>
              <a:rect r="r" b="b" t="t" l="l"/>
              <a:pathLst>
                <a:path h="903520" w="844075">
                  <a:moveTo>
                    <a:pt x="21315" y="0"/>
                  </a:moveTo>
                  <a:lnTo>
                    <a:pt x="822761" y="0"/>
                  </a:lnTo>
                  <a:cubicBezTo>
                    <a:pt x="828414" y="0"/>
                    <a:pt x="833835" y="2246"/>
                    <a:pt x="837832" y="6243"/>
                  </a:cubicBezTo>
                  <a:cubicBezTo>
                    <a:pt x="841830" y="10240"/>
                    <a:pt x="844075" y="15662"/>
                    <a:pt x="844075" y="21315"/>
                  </a:cubicBezTo>
                  <a:lnTo>
                    <a:pt x="844075" y="882205"/>
                  </a:lnTo>
                  <a:cubicBezTo>
                    <a:pt x="844075" y="893977"/>
                    <a:pt x="834532" y="903520"/>
                    <a:pt x="822761" y="903520"/>
                  </a:cubicBezTo>
                  <a:lnTo>
                    <a:pt x="21315" y="903520"/>
                  </a:lnTo>
                  <a:cubicBezTo>
                    <a:pt x="9543" y="903520"/>
                    <a:pt x="0" y="893977"/>
                    <a:pt x="0" y="882205"/>
                  </a:cubicBezTo>
                  <a:lnTo>
                    <a:pt x="0" y="21315"/>
                  </a:lnTo>
                  <a:cubicBezTo>
                    <a:pt x="0" y="9543"/>
                    <a:pt x="9543" y="0"/>
                    <a:pt x="21315" y="0"/>
                  </a:cubicBezTo>
                  <a:close/>
                </a:path>
              </a:pathLst>
            </a:custGeom>
            <a:blipFill>
              <a:blip r:embed="rId4"/>
              <a:stretch>
                <a:fillRect l="0" t="-24" r="0" b="-24"/>
              </a:stretch>
            </a:blipFill>
            <a:ln w="9525" cap="sq">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miter/>
            </a:ln>
          </p:spPr>
        </p:sp>
      </p:grpSp>
      <p:sp>
        <p:nvSpPr>
          <p:cNvPr name="TextBox 7" id="7"/>
          <p:cNvSpPr txBox="true"/>
          <p:nvPr/>
        </p:nvSpPr>
        <p:spPr>
          <a:xfrm rot="0">
            <a:off x="2322966" y="4595667"/>
            <a:ext cx="8333124" cy="1563370"/>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Face-manipulation videos are now trivially easy to create using consumer-grade software and open-source tools. Frame-based detectors tend to overfit to artifacts specific to a single synthesis method, resulting in poor generalization across datasets and manipulation types.</a:t>
            </a:r>
          </a:p>
        </p:txBody>
      </p:sp>
      <p:sp>
        <p:nvSpPr>
          <p:cNvPr name="TextBox 8" id="8"/>
          <p:cNvSpPr txBox="true"/>
          <p:nvPr/>
        </p:nvSpPr>
        <p:spPr>
          <a:xfrm rot="0">
            <a:off x="2322966" y="6974679"/>
            <a:ext cx="8333124" cy="1563370"/>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Video-based detection offers a stronger paradigm by leveraging inter-frame inconsistencies left behind by forgery pipelines. Since deepfake synthesis operates frame-by-frame, temporal coherence is subtly broken — a signal that spatial-temporal models can exploit.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0" y="1408229"/>
            <a:ext cx="18288000" cy="1955360"/>
          </a:xfrm>
          <a:custGeom>
            <a:avLst/>
            <a:gdLst/>
            <a:ahLst/>
            <a:cxnLst/>
            <a:rect r="r" b="b" t="t" l="l"/>
            <a:pathLst>
              <a:path h="1955360" w="18288000">
                <a:moveTo>
                  <a:pt x="0" y="0"/>
                </a:moveTo>
                <a:lnTo>
                  <a:pt x="18288000" y="0"/>
                </a:lnTo>
                <a:lnTo>
                  <a:pt x="18288000" y="1955360"/>
                </a:lnTo>
                <a:lnTo>
                  <a:pt x="0" y="1955360"/>
                </a:lnTo>
                <a:lnTo>
                  <a:pt x="0" y="0"/>
                </a:lnTo>
                <a:close/>
              </a:path>
            </a:pathLst>
          </a:custGeom>
          <a:blipFill>
            <a:blip r:embed="rId3">
              <a:alphaModFix amt="70000"/>
            </a:blip>
            <a:stretch>
              <a:fillRect l="-61654" t="-100395" r="0" b="-808461"/>
            </a:stretch>
          </a:blipFill>
        </p:spPr>
      </p:sp>
      <p:sp>
        <p:nvSpPr>
          <p:cNvPr name="TextBox 4" id="4"/>
          <p:cNvSpPr txBox="true"/>
          <p:nvPr/>
        </p:nvSpPr>
        <p:spPr>
          <a:xfrm rot="0">
            <a:off x="1127148" y="1608254"/>
            <a:ext cx="16033705" cy="868477"/>
          </a:xfrm>
          <a:prstGeom prst="rect">
            <a:avLst/>
          </a:prstGeom>
        </p:spPr>
        <p:txBody>
          <a:bodyPr anchor="t" rtlCol="false" tIns="0" lIns="0" bIns="0" rIns="0">
            <a:spAutoFit/>
          </a:bodyPr>
          <a:lstStyle/>
          <a:p>
            <a:pPr algn="ctr" marL="0" indent="0" lvl="0">
              <a:lnSpc>
                <a:spcPts val="6340"/>
              </a:lnSpc>
            </a:pPr>
            <a:r>
              <a:rPr lang="en-US" sz="7044" spc="-422">
                <a:solidFill>
                  <a:srgbClr val="FFFFFF"/>
                </a:solidFill>
                <a:latin typeface="TT Interphases"/>
                <a:ea typeface="TT Interphases"/>
                <a:cs typeface="TT Interphases"/>
                <a:sym typeface="TT Interphases"/>
              </a:rPr>
              <a:t>WHY SPATIAL-TEMPORAL TRANSFORMERS</a:t>
            </a:r>
          </a:p>
        </p:txBody>
      </p:sp>
      <p:grpSp>
        <p:nvGrpSpPr>
          <p:cNvPr name="Group 5" id="5"/>
          <p:cNvGrpSpPr/>
          <p:nvPr/>
        </p:nvGrpSpPr>
        <p:grpSpPr>
          <a:xfrm rot="0">
            <a:off x="1033462" y="5143500"/>
            <a:ext cx="16225838" cy="4114800"/>
            <a:chOff x="0" y="0"/>
            <a:chExt cx="2403603" cy="609543"/>
          </a:xfrm>
        </p:grpSpPr>
        <p:sp>
          <p:nvSpPr>
            <p:cNvPr name="Freeform 6" id="6"/>
            <p:cNvSpPr/>
            <p:nvPr/>
          </p:nvSpPr>
          <p:spPr>
            <a:xfrm flipH="false" flipV="false" rot="0">
              <a:off x="0" y="0"/>
              <a:ext cx="2403603" cy="609543"/>
            </a:xfrm>
            <a:custGeom>
              <a:avLst/>
              <a:gdLst/>
              <a:ahLst/>
              <a:cxnLst/>
              <a:rect r="r" b="b" t="t" l="l"/>
              <a:pathLst>
                <a:path h="609543" w="2403603">
                  <a:moveTo>
                    <a:pt x="17177" y="0"/>
                  </a:moveTo>
                  <a:lnTo>
                    <a:pt x="2386426" y="0"/>
                  </a:lnTo>
                  <a:cubicBezTo>
                    <a:pt x="2395913" y="0"/>
                    <a:pt x="2403603" y="7690"/>
                    <a:pt x="2403603" y="17177"/>
                  </a:cubicBezTo>
                  <a:lnTo>
                    <a:pt x="2403603" y="592366"/>
                  </a:lnTo>
                  <a:cubicBezTo>
                    <a:pt x="2403603" y="596922"/>
                    <a:pt x="2401793" y="601291"/>
                    <a:pt x="2398572" y="604512"/>
                  </a:cubicBezTo>
                  <a:cubicBezTo>
                    <a:pt x="2395351" y="607733"/>
                    <a:pt x="2390982" y="609543"/>
                    <a:pt x="2386426" y="609543"/>
                  </a:cubicBezTo>
                  <a:lnTo>
                    <a:pt x="17177" y="609543"/>
                  </a:lnTo>
                  <a:cubicBezTo>
                    <a:pt x="7690" y="609543"/>
                    <a:pt x="0" y="601853"/>
                    <a:pt x="0" y="592366"/>
                  </a:cubicBezTo>
                  <a:lnTo>
                    <a:pt x="0" y="17177"/>
                  </a:lnTo>
                  <a:cubicBezTo>
                    <a:pt x="0" y="7690"/>
                    <a:pt x="7690" y="0"/>
                    <a:pt x="17177"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FFFFF"/>
              </a:solidFill>
              <a:prstDash val="solid"/>
              <a:round/>
            </a:ln>
          </p:spPr>
        </p:sp>
        <p:sp>
          <p:nvSpPr>
            <p:cNvPr name="TextBox 7" id="7"/>
            <p:cNvSpPr txBox="true"/>
            <p:nvPr/>
          </p:nvSpPr>
          <p:spPr>
            <a:xfrm>
              <a:off x="0" y="-38100"/>
              <a:ext cx="2403603" cy="6476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2106278" y="4670901"/>
            <a:ext cx="6545708" cy="1073547"/>
            <a:chOff x="0" y="0"/>
            <a:chExt cx="969644" cy="159029"/>
          </a:xfrm>
        </p:grpSpPr>
        <p:sp>
          <p:nvSpPr>
            <p:cNvPr name="Freeform 9" id="9"/>
            <p:cNvSpPr/>
            <p:nvPr/>
          </p:nvSpPr>
          <p:spPr>
            <a:xfrm flipH="false" flipV="false" rot="0">
              <a:off x="0" y="0"/>
              <a:ext cx="969644" cy="159029"/>
            </a:xfrm>
            <a:custGeom>
              <a:avLst/>
              <a:gdLst/>
              <a:ahLst/>
              <a:cxnLst/>
              <a:rect r="r" b="b" t="t" l="l"/>
              <a:pathLst>
                <a:path h="159029" w="969644">
                  <a:moveTo>
                    <a:pt x="31934" y="0"/>
                  </a:moveTo>
                  <a:lnTo>
                    <a:pt x="937710" y="0"/>
                  </a:lnTo>
                  <a:cubicBezTo>
                    <a:pt x="955346" y="0"/>
                    <a:pt x="969644" y="14297"/>
                    <a:pt x="969644" y="31934"/>
                  </a:cubicBezTo>
                  <a:lnTo>
                    <a:pt x="969644" y="127095"/>
                  </a:lnTo>
                  <a:cubicBezTo>
                    <a:pt x="969644" y="144732"/>
                    <a:pt x="955346" y="159029"/>
                    <a:pt x="937710" y="159029"/>
                  </a:cubicBezTo>
                  <a:lnTo>
                    <a:pt x="31934" y="159029"/>
                  </a:lnTo>
                  <a:cubicBezTo>
                    <a:pt x="14297" y="159029"/>
                    <a:pt x="0" y="144732"/>
                    <a:pt x="0" y="127095"/>
                  </a:cubicBezTo>
                  <a:lnTo>
                    <a:pt x="0" y="31934"/>
                  </a:lnTo>
                  <a:cubicBezTo>
                    <a:pt x="0" y="14297"/>
                    <a:pt x="14297" y="0"/>
                    <a:pt x="31934"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10" id="10"/>
            <p:cNvSpPr txBox="true"/>
            <p:nvPr/>
          </p:nvSpPr>
          <p:spPr>
            <a:xfrm>
              <a:off x="0" y="-38100"/>
              <a:ext cx="969644" cy="19712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636015" y="4670901"/>
            <a:ext cx="6545708" cy="1073547"/>
            <a:chOff x="0" y="0"/>
            <a:chExt cx="969644" cy="159029"/>
          </a:xfrm>
        </p:grpSpPr>
        <p:sp>
          <p:nvSpPr>
            <p:cNvPr name="Freeform 12" id="12"/>
            <p:cNvSpPr/>
            <p:nvPr/>
          </p:nvSpPr>
          <p:spPr>
            <a:xfrm flipH="false" flipV="false" rot="0">
              <a:off x="0" y="0"/>
              <a:ext cx="969644" cy="159029"/>
            </a:xfrm>
            <a:custGeom>
              <a:avLst/>
              <a:gdLst/>
              <a:ahLst/>
              <a:cxnLst/>
              <a:rect r="r" b="b" t="t" l="l"/>
              <a:pathLst>
                <a:path h="159029" w="969644">
                  <a:moveTo>
                    <a:pt x="31934" y="0"/>
                  </a:moveTo>
                  <a:lnTo>
                    <a:pt x="937710" y="0"/>
                  </a:lnTo>
                  <a:cubicBezTo>
                    <a:pt x="955346" y="0"/>
                    <a:pt x="969644" y="14297"/>
                    <a:pt x="969644" y="31934"/>
                  </a:cubicBezTo>
                  <a:lnTo>
                    <a:pt x="969644" y="127095"/>
                  </a:lnTo>
                  <a:cubicBezTo>
                    <a:pt x="969644" y="144732"/>
                    <a:pt x="955346" y="159029"/>
                    <a:pt x="937710" y="159029"/>
                  </a:cubicBezTo>
                  <a:lnTo>
                    <a:pt x="31934" y="159029"/>
                  </a:lnTo>
                  <a:cubicBezTo>
                    <a:pt x="14297" y="159029"/>
                    <a:pt x="0" y="144732"/>
                    <a:pt x="0" y="127095"/>
                  </a:cubicBezTo>
                  <a:lnTo>
                    <a:pt x="0" y="31934"/>
                  </a:lnTo>
                  <a:cubicBezTo>
                    <a:pt x="0" y="14297"/>
                    <a:pt x="14297" y="0"/>
                    <a:pt x="31934"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13" id="13"/>
            <p:cNvSpPr txBox="true"/>
            <p:nvPr/>
          </p:nvSpPr>
          <p:spPr>
            <a:xfrm>
              <a:off x="0" y="-38100"/>
              <a:ext cx="969644" cy="1971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2531388" y="4959869"/>
            <a:ext cx="5120362" cy="558056"/>
          </a:xfrm>
          <a:prstGeom prst="rect">
            <a:avLst/>
          </a:prstGeom>
        </p:spPr>
        <p:txBody>
          <a:bodyPr anchor="t" rtlCol="false" tIns="0" lIns="0" bIns="0" rIns="0">
            <a:spAutoFit/>
          </a:bodyPr>
          <a:lstStyle/>
          <a:p>
            <a:pPr algn="l" marL="0" indent="0" lvl="0">
              <a:lnSpc>
                <a:spcPts val="4303"/>
              </a:lnSpc>
            </a:pPr>
            <a:r>
              <a:rPr lang="en-US" sz="4098" spc="-352">
                <a:solidFill>
                  <a:srgbClr val="3C0C19"/>
                </a:solidFill>
                <a:latin typeface="Helvetica World"/>
                <a:ea typeface="Helvetica World"/>
                <a:cs typeface="Helvetica World"/>
                <a:sym typeface="Helvetica World"/>
              </a:rPr>
              <a:t>Naive Approaches</a:t>
            </a:r>
          </a:p>
        </p:txBody>
      </p:sp>
      <p:sp>
        <p:nvSpPr>
          <p:cNvPr name="TextBox 15" id="15"/>
          <p:cNvSpPr txBox="true"/>
          <p:nvPr/>
        </p:nvSpPr>
        <p:spPr>
          <a:xfrm rot="0">
            <a:off x="10061125" y="4959869"/>
            <a:ext cx="5120362" cy="558056"/>
          </a:xfrm>
          <a:prstGeom prst="rect">
            <a:avLst/>
          </a:prstGeom>
        </p:spPr>
        <p:txBody>
          <a:bodyPr anchor="t" rtlCol="false" tIns="0" lIns="0" bIns="0" rIns="0">
            <a:spAutoFit/>
          </a:bodyPr>
          <a:lstStyle/>
          <a:p>
            <a:pPr algn="l" marL="0" indent="0" lvl="0">
              <a:lnSpc>
                <a:spcPts val="4303"/>
              </a:lnSpc>
            </a:pPr>
            <a:r>
              <a:rPr lang="en-US" sz="4098" spc="-352">
                <a:solidFill>
                  <a:srgbClr val="3C0C19"/>
                </a:solidFill>
                <a:latin typeface="Helvetica World"/>
                <a:ea typeface="Helvetica World"/>
                <a:cs typeface="Helvetica World"/>
                <a:sym typeface="Helvetica World"/>
              </a:rPr>
              <a:t>ISTVT Solution</a:t>
            </a:r>
          </a:p>
        </p:txBody>
      </p:sp>
      <p:sp>
        <p:nvSpPr>
          <p:cNvPr name="TextBox 16" id="16"/>
          <p:cNvSpPr txBox="true"/>
          <p:nvPr/>
        </p:nvSpPr>
        <p:spPr>
          <a:xfrm rot="0">
            <a:off x="2531388" y="6308126"/>
            <a:ext cx="5861113" cy="2441908"/>
          </a:xfrm>
          <a:prstGeom prst="rect">
            <a:avLst/>
          </a:prstGeom>
        </p:spPr>
        <p:txBody>
          <a:bodyPr anchor="t" rtlCol="false" tIns="0" lIns="0" bIns="0" rIns="0">
            <a:spAutoFit/>
          </a:bodyPr>
          <a:lstStyle/>
          <a:p>
            <a:pPr algn="l" marL="0" indent="0" lvl="0">
              <a:lnSpc>
                <a:spcPts val="2431"/>
              </a:lnSpc>
            </a:pPr>
            <a:r>
              <a:rPr lang="en-US" sz="1736" spc="-60">
                <a:solidFill>
                  <a:srgbClr val="FFFFFF"/>
                </a:solidFill>
                <a:latin typeface="Public Sans Light"/>
                <a:ea typeface="Public Sans Light"/>
                <a:cs typeface="Public Sans Light"/>
                <a:sym typeface="Public Sans Light"/>
              </a:rPr>
              <a:t>• C3D and LSTM models underperform on deepfake detection tasks</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Deepfake synthesis is frame-by-frame, breaking temporal consistency</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Vanilla video transformers are computationally expensive</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Standard attention scales as O(T²H²W²) — prohibitive for video</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Hard to interpret: no clear spatial or temporal attribution</a:t>
            </a:r>
          </a:p>
        </p:txBody>
      </p:sp>
      <p:sp>
        <p:nvSpPr>
          <p:cNvPr name="TextBox 17" id="17"/>
          <p:cNvSpPr txBox="true"/>
          <p:nvPr/>
        </p:nvSpPr>
        <p:spPr>
          <a:xfrm rot="0">
            <a:off x="10061125" y="6308126"/>
            <a:ext cx="5861113" cy="2441908"/>
          </a:xfrm>
          <a:prstGeom prst="rect">
            <a:avLst/>
          </a:prstGeom>
        </p:spPr>
        <p:txBody>
          <a:bodyPr anchor="t" rtlCol="false" tIns="0" lIns="0" bIns="0" rIns="0">
            <a:spAutoFit/>
          </a:bodyPr>
          <a:lstStyle/>
          <a:p>
            <a:pPr algn="l" marL="0" indent="0" lvl="0">
              <a:lnSpc>
                <a:spcPts val="2431"/>
              </a:lnSpc>
            </a:pPr>
            <a:r>
              <a:rPr lang="en-US" sz="1736" spc="-60">
                <a:solidFill>
                  <a:srgbClr val="FFFFFF"/>
                </a:solidFill>
                <a:latin typeface="Public Sans Light"/>
                <a:ea typeface="Public Sans Light"/>
                <a:cs typeface="Public Sans Light"/>
                <a:sym typeface="Public Sans Light"/>
              </a:rPr>
              <a:t>• Decomposes attention into separate spatial and temporal streams</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Reduces complexity to O(T² + H²W²) — far more efficient</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Self-subtract mechanism captures inter-frame forgery inconsistencies</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Learnable spatial and temporal tokens enable targeted classification</a:t>
            </a:r>
          </a:p>
          <a:p>
            <a:pPr algn="l" marL="0" indent="0" lvl="0">
              <a:lnSpc>
                <a:spcPts val="2431"/>
              </a:lnSpc>
            </a:pPr>
            <a:r>
              <a:rPr lang="en-US" sz="1736" spc="-60">
                <a:solidFill>
                  <a:srgbClr val="FFFFFF"/>
                </a:solidFill>
                <a:latin typeface="Public Sans Light"/>
                <a:ea typeface="Public Sans Light"/>
                <a:cs typeface="Public Sans Light"/>
                <a:sym typeface="Public Sans Light"/>
              </a:rPr>
              <a:t>• Interpretable by design via relevance propagation heatmaps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552442" y="1155532"/>
            <a:ext cx="9173078" cy="1955360"/>
          </a:xfrm>
          <a:custGeom>
            <a:avLst/>
            <a:gdLst/>
            <a:ahLst/>
            <a:cxnLst/>
            <a:rect r="r" b="b" t="t" l="l"/>
            <a:pathLst>
              <a:path h="1955360" w="9173078">
                <a:moveTo>
                  <a:pt x="0" y="0"/>
                </a:moveTo>
                <a:lnTo>
                  <a:pt x="9173079" y="0"/>
                </a:lnTo>
                <a:lnTo>
                  <a:pt x="9173079" y="1955360"/>
                </a:lnTo>
                <a:lnTo>
                  <a:pt x="0" y="1955360"/>
                </a:lnTo>
                <a:lnTo>
                  <a:pt x="0" y="0"/>
                </a:lnTo>
                <a:close/>
              </a:path>
            </a:pathLst>
          </a:custGeom>
          <a:blipFill>
            <a:blip r:embed="rId3">
              <a:alphaModFix amt="70000"/>
            </a:blip>
            <a:stretch>
              <a:fillRect l="-128939" t="-100395" r="-93343" b="-808461"/>
            </a:stretch>
          </a:blipFill>
        </p:spPr>
      </p:sp>
      <p:sp>
        <p:nvSpPr>
          <p:cNvPr name="TextBox 4" id="4"/>
          <p:cNvSpPr txBox="true"/>
          <p:nvPr/>
        </p:nvSpPr>
        <p:spPr>
          <a:xfrm rot="0">
            <a:off x="846852" y="1710438"/>
            <a:ext cx="8696821" cy="895683"/>
          </a:xfrm>
          <a:prstGeom prst="rect">
            <a:avLst/>
          </a:prstGeom>
        </p:spPr>
        <p:txBody>
          <a:bodyPr anchor="t" rtlCol="false" tIns="0" lIns="0" bIns="0" rIns="0">
            <a:spAutoFit/>
          </a:bodyPr>
          <a:lstStyle/>
          <a:p>
            <a:pPr algn="l" marL="0" indent="0" lvl="0">
              <a:lnSpc>
                <a:spcPts val="6532"/>
              </a:lnSpc>
            </a:pPr>
            <a:r>
              <a:rPr lang="en-US" sz="7258" spc="-435">
                <a:solidFill>
                  <a:srgbClr val="FFFFFF"/>
                </a:solidFill>
                <a:latin typeface="TT Interphases"/>
                <a:ea typeface="TT Interphases"/>
                <a:cs typeface="TT Interphases"/>
                <a:sym typeface="TT Interphases"/>
              </a:rPr>
              <a:t>ISTVT ARCHITECTURE</a:t>
            </a:r>
          </a:p>
        </p:txBody>
      </p:sp>
      <p:grpSp>
        <p:nvGrpSpPr>
          <p:cNvPr name="Group 5" id="5"/>
          <p:cNvGrpSpPr/>
          <p:nvPr/>
        </p:nvGrpSpPr>
        <p:grpSpPr>
          <a:xfrm rot="0">
            <a:off x="10890612" y="1100926"/>
            <a:ext cx="6368688" cy="4989488"/>
            <a:chOff x="0" y="0"/>
            <a:chExt cx="957333" cy="750013"/>
          </a:xfrm>
        </p:grpSpPr>
        <p:sp>
          <p:nvSpPr>
            <p:cNvPr name="Freeform 6" id="6"/>
            <p:cNvSpPr/>
            <p:nvPr/>
          </p:nvSpPr>
          <p:spPr>
            <a:xfrm flipH="false" flipV="false" rot="0">
              <a:off x="0" y="0"/>
              <a:ext cx="957333" cy="750013"/>
            </a:xfrm>
            <a:custGeom>
              <a:avLst/>
              <a:gdLst/>
              <a:ahLst/>
              <a:cxnLst/>
              <a:rect r="r" b="b" t="t" l="l"/>
              <a:pathLst>
                <a:path h="750013" w="957333">
                  <a:moveTo>
                    <a:pt x="65644" y="0"/>
                  </a:moveTo>
                  <a:lnTo>
                    <a:pt x="891689" y="0"/>
                  </a:lnTo>
                  <a:cubicBezTo>
                    <a:pt x="909099" y="0"/>
                    <a:pt x="925796" y="6916"/>
                    <a:pt x="938106" y="19227"/>
                  </a:cubicBezTo>
                  <a:cubicBezTo>
                    <a:pt x="950417" y="31537"/>
                    <a:pt x="957333" y="48234"/>
                    <a:pt x="957333" y="65644"/>
                  </a:cubicBezTo>
                  <a:lnTo>
                    <a:pt x="957333" y="684370"/>
                  </a:lnTo>
                  <a:cubicBezTo>
                    <a:pt x="957333" y="701779"/>
                    <a:pt x="950417" y="718476"/>
                    <a:pt x="938106" y="730787"/>
                  </a:cubicBezTo>
                  <a:cubicBezTo>
                    <a:pt x="925796" y="743097"/>
                    <a:pt x="909099" y="750013"/>
                    <a:pt x="891689" y="750013"/>
                  </a:cubicBezTo>
                  <a:lnTo>
                    <a:pt x="65644" y="750013"/>
                  </a:lnTo>
                  <a:cubicBezTo>
                    <a:pt x="48234" y="750013"/>
                    <a:pt x="31537" y="743097"/>
                    <a:pt x="19227" y="730787"/>
                  </a:cubicBezTo>
                  <a:cubicBezTo>
                    <a:pt x="6916" y="718476"/>
                    <a:pt x="0" y="701779"/>
                    <a:pt x="0" y="684370"/>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7" id="7"/>
            <p:cNvSpPr txBox="true"/>
            <p:nvPr/>
          </p:nvSpPr>
          <p:spPr>
            <a:xfrm>
              <a:off x="0" y="-38100"/>
              <a:ext cx="957333" cy="78811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890612" y="6802198"/>
            <a:ext cx="6368688" cy="3484802"/>
            <a:chOff x="0" y="0"/>
            <a:chExt cx="957333" cy="523831"/>
          </a:xfrm>
        </p:grpSpPr>
        <p:sp>
          <p:nvSpPr>
            <p:cNvPr name="Freeform 9" id="9"/>
            <p:cNvSpPr/>
            <p:nvPr/>
          </p:nvSpPr>
          <p:spPr>
            <a:xfrm flipH="false" flipV="false" rot="0">
              <a:off x="0" y="0"/>
              <a:ext cx="957333" cy="523831"/>
            </a:xfrm>
            <a:custGeom>
              <a:avLst/>
              <a:gdLst/>
              <a:ahLst/>
              <a:cxnLst/>
              <a:rect r="r" b="b" t="t" l="l"/>
              <a:pathLst>
                <a:path h="523831" w="957333">
                  <a:moveTo>
                    <a:pt x="65644" y="0"/>
                  </a:moveTo>
                  <a:lnTo>
                    <a:pt x="891689" y="0"/>
                  </a:lnTo>
                  <a:cubicBezTo>
                    <a:pt x="909099" y="0"/>
                    <a:pt x="925796" y="6916"/>
                    <a:pt x="938106" y="19227"/>
                  </a:cubicBezTo>
                  <a:cubicBezTo>
                    <a:pt x="950417" y="31537"/>
                    <a:pt x="957333" y="48234"/>
                    <a:pt x="957333" y="65644"/>
                  </a:cubicBezTo>
                  <a:lnTo>
                    <a:pt x="957333" y="458187"/>
                  </a:lnTo>
                  <a:cubicBezTo>
                    <a:pt x="957333" y="475597"/>
                    <a:pt x="950417" y="492294"/>
                    <a:pt x="938106" y="504604"/>
                  </a:cubicBezTo>
                  <a:cubicBezTo>
                    <a:pt x="925796" y="516915"/>
                    <a:pt x="909099" y="523831"/>
                    <a:pt x="891689" y="523831"/>
                  </a:cubicBezTo>
                  <a:lnTo>
                    <a:pt x="65644" y="523831"/>
                  </a:lnTo>
                  <a:cubicBezTo>
                    <a:pt x="48234" y="523831"/>
                    <a:pt x="31537" y="516915"/>
                    <a:pt x="19227" y="504604"/>
                  </a:cubicBezTo>
                  <a:cubicBezTo>
                    <a:pt x="6916" y="492294"/>
                    <a:pt x="0" y="475597"/>
                    <a:pt x="0" y="458187"/>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10" id="10"/>
            <p:cNvSpPr txBox="true"/>
            <p:nvPr/>
          </p:nvSpPr>
          <p:spPr>
            <a:xfrm>
              <a:off x="0" y="-38100"/>
              <a:ext cx="957333" cy="56193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8922632" y="3905135"/>
            <a:ext cx="6049421" cy="2592263"/>
            <a:chOff x="0" y="0"/>
            <a:chExt cx="909341" cy="389666"/>
          </a:xfrm>
        </p:grpSpPr>
        <p:sp>
          <p:nvSpPr>
            <p:cNvPr name="Freeform 12" id="12"/>
            <p:cNvSpPr/>
            <p:nvPr/>
          </p:nvSpPr>
          <p:spPr>
            <a:xfrm flipH="false" flipV="false" rot="0">
              <a:off x="0" y="0"/>
              <a:ext cx="909341" cy="389666"/>
            </a:xfrm>
            <a:custGeom>
              <a:avLst/>
              <a:gdLst/>
              <a:ahLst/>
              <a:cxnLst/>
              <a:rect r="r" b="b" t="t" l="l"/>
              <a:pathLst>
                <a:path h="389666" w="909341">
                  <a:moveTo>
                    <a:pt x="69108" y="0"/>
                  </a:moveTo>
                  <a:lnTo>
                    <a:pt x="840233" y="0"/>
                  </a:lnTo>
                  <a:cubicBezTo>
                    <a:pt x="878400" y="0"/>
                    <a:pt x="909341" y="30941"/>
                    <a:pt x="909341" y="69108"/>
                  </a:cubicBezTo>
                  <a:lnTo>
                    <a:pt x="909341" y="320558"/>
                  </a:lnTo>
                  <a:cubicBezTo>
                    <a:pt x="909341" y="338886"/>
                    <a:pt x="902060" y="356464"/>
                    <a:pt x="889100" y="369424"/>
                  </a:cubicBezTo>
                  <a:cubicBezTo>
                    <a:pt x="876140" y="382385"/>
                    <a:pt x="858562" y="389666"/>
                    <a:pt x="840233" y="389666"/>
                  </a:cubicBezTo>
                  <a:lnTo>
                    <a:pt x="69108" y="389666"/>
                  </a:lnTo>
                  <a:cubicBezTo>
                    <a:pt x="50779" y="389666"/>
                    <a:pt x="33202" y="382385"/>
                    <a:pt x="20241" y="369424"/>
                  </a:cubicBezTo>
                  <a:cubicBezTo>
                    <a:pt x="7281" y="356464"/>
                    <a:pt x="0" y="338886"/>
                    <a:pt x="0" y="320558"/>
                  </a:cubicBezTo>
                  <a:lnTo>
                    <a:pt x="0" y="69108"/>
                  </a:lnTo>
                  <a:cubicBezTo>
                    <a:pt x="0" y="50779"/>
                    <a:pt x="7281" y="33202"/>
                    <a:pt x="20241" y="20241"/>
                  </a:cubicBezTo>
                  <a:cubicBezTo>
                    <a:pt x="33202" y="7281"/>
                    <a:pt x="50779" y="0"/>
                    <a:pt x="69108" y="0"/>
                  </a:cubicBezTo>
                  <a:close/>
                </a:path>
              </a:pathLst>
            </a:custGeom>
            <a:solidFill>
              <a:srgbClr val="F9F9F9"/>
            </a:solidFill>
            <a:ln w="9525" cap="rnd">
              <a:solidFill>
                <a:srgbClr val="F2FFF2"/>
              </a:solidFill>
              <a:prstDash val="solid"/>
              <a:round/>
            </a:ln>
          </p:spPr>
        </p:sp>
        <p:sp>
          <p:nvSpPr>
            <p:cNvPr name="TextBox 13" id="13"/>
            <p:cNvSpPr txBox="true"/>
            <p:nvPr/>
          </p:nvSpPr>
          <p:spPr>
            <a:xfrm>
              <a:off x="0" y="-38100"/>
              <a:ext cx="909341" cy="42776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1144385" y="1300173"/>
            <a:ext cx="1846255" cy="2163278"/>
            <a:chOff x="0" y="0"/>
            <a:chExt cx="636131" cy="745363"/>
          </a:xfrm>
        </p:grpSpPr>
        <p:sp>
          <p:nvSpPr>
            <p:cNvPr name="Freeform 15" id="15"/>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4"/>
              <a:stretch>
                <a:fillRect l="0" t="-55" r="0" b="-55"/>
              </a:stretch>
            </a:blipFill>
            <a:ln w="9525" cap="rnd">
              <a:solidFill>
                <a:srgbClr val="F9F9F9"/>
              </a:solidFill>
              <a:prstDash val="solid"/>
              <a:round/>
            </a:ln>
          </p:spPr>
        </p:sp>
      </p:grpSp>
      <p:grpSp>
        <p:nvGrpSpPr>
          <p:cNvPr name="Group 16" id="16"/>
          <p:cNvGrpSpPr/>
          <p:nvPr/>
        </p:nvGrpSpPr>
        <p:grpSpPr>
          <a:xfrm rot="0">
            <a:off x="9133859" y="4107755"/>
            <a:ext cx="1846255" cy="2163278"/>
            <a:chOff x="0" y="0"/>
            <a:chExt cx="636131" cy="745363"/>
          </a:xfrm>
        </p:grpSpPr>
        <p:sp>
          <p:nvSpPr>
            <p:cNvPr name="Freeform 17" id="17"/>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5"/>
              <a:stretch>
                <a:fillRect l="0" t="-55" r="0" b="-55"/>
              </a:stretch>
            </a:blipFill>
            <a:ln w="9525" cap="rnd">
              <a:solidFill>
                <a:srgbClr val="F9F9F9"/>
              </a:solidFill>
              <a:prstDash val="solid"/>
              <a:round/>
            </a:ln>
          </p:spPr>
        </p:sp>
      </p:grpSp>
      <p:grpSp>
        <p:nvGrpSpPr>
          <p:cNvPr name="Group 18" id="18"/>
          <p:cNvGrpSpPr/>
          <p:nvPr/>
        </p:nvGrpSpPr>
        <p:grpSpPr>
          <a:xfrm rot="0">
            <a:off x="11144385" y="7063319"/>
            <a:ext cx="1846255" cy="2163278"/>
            <a:chOff x="0" y="0"/>
            <a:chExt cx="636131" cy="745363"/>
          </a:xfrm>
        </p:grpSpPr>
        <p:sp>
          <p:nvSpPr>
            <p:cNvPr name="Freeform 19" id="19"/>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6"/>
              <a:stretch>
                <a:fillRect l="0" t="-55" r="0" b="-55"/>
              </a:stretch>
            </a:blipFill>
            <a:ln w="9525" cap="rnd">
              <a:solidFill>
                <a:srgbClr val="F9F9F9"/>
              </a:solidFill>
              <a:prstDash val="solid"/>
              <a:round/>
            </a:ln>
          </p:spPr>
        </p:sp>
      </p:grpSp>
      <p:sp>
        <p:nvSpPr>
          <p:cNvPr name="TextBox 20" id="20"/>
          <p:cNvSpPr txBox="true"/>
          <p:nvPr/>
        </p:nvSpPr>
        <p:spPr>
          <a:xfrm rot="0">
            <a:off x="1028700" y="7291752"/>
            <a:ext cx="8333124" cy="1378604"/>
          </a:xfrm>
          <a:prstGeom prst="rect">
            <a:avLst/>
          </a:prstGeom>
        </p:spPr>
        <p:txBody>
          <a:bodyPr anchor="t" rtlCol="false" tIns="0" lIns="0" bIns="0" rIns="0">
            <a:spAutoFit/>
          </a:bodyPr>
          <a:lstStyle/>
          <a:p>
            <a:pPr algn="l" marL="0" indent="0" lvl="0">
              <a:lnSpc>
                <a:spcPts val="2238"/>
              </a:lnSpc>
            </a:pPr>
            <a:r>
              <a:rPr lang="en-US" sz="1599" i="true" spc="-100">
                <a:solidFill>
                  <a:srgbClr val="F9F9F9"/>
                </a:solidFill>
                <a:latin typeface="Public Sans Light Italics"/>
                <a:ea typeface="Public Sans Light Italics"/>
                <a:cs typeface="Public Sans Light Italics"/>
                <a:sym typeface="Public Sans Light Italics"/>
              </a:rPr>
              <a:t>The model processes each video frame through a shared Xception backbone, producing rich texture feature maps. These maps are split into spatial patch tokens, to which learnable spatial and temporal classification tokens are prepended. The full token sequence is then passed through M stacked spatial-temporal transformer blocks that decompose attention into independent spatial and temporal streams before a final classification head.</a:t>
            </a:r>
          </a:p>
        </p:txBody>
      </p:sp>
      <p:sp>
        <p:nvSpPr>
          <p:cNvPr name="TextBox 21" id="21"/>
          <p:cNvSpPr txBox="true"/>
          <p:nvPr/>
        </p:nvSpPr>
        <p:spPr>
          <a:xfrm rot="0">
            <a:off x="13863329" y="1754107"/>
            <a:ext cx="3029636" cy="532121"/>
          </a:xfrm>
          <a:prstGeom prst="rect">
            <a:avLst/>
          </a:prstGeom>
        </p:spPr>
        <p:txBody>
          <a:bodyPr anchor="t" rtlCol="false" tIns="0" lIns="0" bIns="0" rIns="0">
            <a:spAutoFit/>
          </a:bodyPr>
          <a:lstStyle/>
          <a:p>
            <a:pPr algn="l" marL="0" indent="0" lvl="0">
              <a:lnSpc>
                <a:spcPts val="4298"/>
              </a:lnSpc>
            </a:pPr>
            <a:r>
              <a:rPr lang="en-US" sz="3070" spc="-227">
                <a:solidFill>
                  <a:srgbClr val="F9F9F9"/>
                </a:solidFill>
                <a:latin typeface="Public Sans"/>
                <a:ea typeface="Public Sans"/>
                <a:cs typeface="Public Sans"/>
                <a:sym typeface="Public Sans"/>
              </a:rPr>
              <a:t>Xception Backbone</a:t>
            </a:r>
          </a:p>
        </p:txBody>
      </p:sp>
      <p:sp>
        <p:nvSpPr>
          <p:cNvPr name="TextBox 22" id="22"/>
          <p:cNvSpPr txBox="true"/>
          <p:nvPr/>
        </p:nvSpPr>
        <p:spPr>
          <a:xfrm rot="0">
            <a:off x="11717111" y="4568760"/>
            <a:ext cx="3029636" cy="532121"/>
          </a:xfrm>
          <a:prstGeom prst="rect">
            <a:avLst/>
          </a:prstGeom>
        </p:spPr>
        <p:txBody>
          <a:bodyPr anchor="t" rtlCol="false" tIns="0" lIns="0" bIns="0" rIns="0">
            <a:spAutoFit/>
          </a:bodyPr>
          <a:lstStyle/>
          <a:p>
            <a:pPr algn="l" marL="0" indent="0" lvl="0">
              <a:lnSpc>
                <a:spcPts val="4298"/>
              </a:lnSpc>
            </a:pPr>
            <a:r>
              <a:rPr lang="en-US" sz="3070" spc="-227">
                <a:solidFill>
                  <a:srgbClr val="000000"/>
                </a:solidFill>
                <a:latin typeface="Public Sans"/>
                <a:ea typeface="Public Sans"/>
                <a:cs typeface="Public Sans"/>
                <a:sym typeface="Public Sans"/>
              </a:rPr>
              <a:t>Patch Tokenization</a:t>
            </a:r>
          </a:p>
        </p:txBody>
      </p:sp>
      <p:sp>
        <p:nvSpPr>
          <p:cNvPr name="TextBox 23" id="23"/>
          <p:cNvSpPr txBox="true"/>
          <p:nvPr/>
        </p:nvSpPr>
        <p:spPr>
          <a:xfrm rot="0">
            <a:off x="13863329" y="2315016"/>
            <a:ext cx="2520710" cy="260985"/>
          </a:xfrm>
          <a:prstGeom prst="rect">
            <a:avLst/>
          </a:prstGeom>
        </p:spPr>
        <p:txBody>
          <a:bodyPr anchor="t" rtlCol="false" tIns="0" lIns="0" bIns="0" rIns="0">
            <a:spAutoFit/>
          </a:bodyPr>
          <a:lstStyle/>
          <a:p>
            <a:pPr algn="l" marL="0" indent="0" lvl="0">
              <a:lnSpc>
                <a:spcPts val="2059"/>
              </a:lnSpc>
            </a:pPr>
            <a:r>
              <a:rPr lang="en-US" sz="1471" spc="-108">
                <a:solidFill>
                  <a:srgbClr val="F9F9F9"/>
                </a:solidFill>
                <a:latin typeface="Public Sans"/>
                <a:ea typeface="Public Sans"/>
                <a:cs typeface="Public Sans"/>
                <a:sym typeface="Public Sans"/>
              </a:rPr>
              <a:t>Entry-Flow Feature Extractor</a:t>
            </a:r>
          </a:p>
        </p:txBody>
      </p:sp>
      <p:sp>
        <p:nvSpPr>
          <p:cNvPr name="TextBox 24" id="24"/>
          <p:cNvSpPr txBox="true"/>
          <p:nvPr/>
        </p:nvSpPr>
        <p:spPr>
          <a:xfrm rot="0">
            <a:off x="11717111" y="5140068"/>
            <a:ext cx="2520710" cy="260985"/>
          </a:xfrm>
          <a:prstGeom prst="rect">
            <a:avLst/>
          </a:prstGeom>
        </p:spPr>
        <p:txBody>
          <a:bodyPr anchor="t" rtlCol="false" tIns="0" lIns="0" bIns="0" rIns="0">
            <a:spAutoFit/>
          </a:bodyPr>
          <a:lstStyle/>
          <a:p>
            <a:pPr algn="l" marL="0" indent="0" lvl="0">
              <a:lnSpc>
                <a:spcPts val="2059"/>
              </a:lnSpc>
            </a:pPr>
            <a:r>
              <a:rPr lang="en-US" sz="1471" spc="-108">
                <a:solidFill>
                  <a:srgbClr val="000000"/>
                </a:solidFill>
                <a:latin typeface="Public Sans"/>
                <a:ea typeface="Public Sans"/>
                <a:cs typeface="Public Sans"/>
                <a:sym typeface="Public Sans"/>
              </a:rPr>
              <a:t>Spatial &amp; Temporal Tokens</a:t>
            </a:r>
          </a:p>
        </p:txBody>
      </p:sp>
      <p:sp>
        <p:nvSpPr>
          <p:cNvPr name="TextBox 25" id="25"/>
          <p:cNvSpPr txBox="true"/>
          <p:nvPr/>
        </p:nvSpPr>
        <p:spPr>
          <a:xfrm rot="0">
            <a:off x="13863329" y="2632993"/>
            <a:ext cx="2217449" cy="207741"/>
          </a:xfrm>
          <a:prstGeom prst="rect">
            <a:avLst/>
          </a:prstGeom>
        </p:spPr>
        <p:txBody>
          <a:bodyPr anchor="t" rtlCol="false" tIns="0" lIns="0" bIns="0" rIns="0">
            <a:spAutoFit/>
          </a:bodyPr>
          <a:lstStyle/>
          <a:p>
            <a:pPr algn="l" marL="0" indent="0" lvl="0">
              <a:lnSpc>
                <a:spcPts val="1680"/>
              </a:lnSpc>
            </a:pPr>
            <a:r>
              <a:rPr lang="en-US" sz="1200" spc="-88">
                <a:solidFill>
                  <a:srgbClr val="F9F9F9"/>
                </a:solidFill>
                <a:latin typeface="Public Sans"/>
                <a:ea typeface="Public Sans"/>
                <a:cs typeface="Public Sans"/>
                <a:sym typeface="Public Sans"/>
              </a:rPr>
              <a:t>Per-Frame Texture Features</a:t>
            </a:r>
          </a:p>
        </p:txBody>
      </p:sp>
      <p:sp>
        <p:nvSpPr>
          <p:cNvPr name="TextBox 26" id="26"/>
          <p:cNvSpPr txBox="true"/>
          <p:nvPr/>
        </p:nvSpPr>
        <p:spPr>
          <a:xfrm rot="0">
            <a:off x="11717111" y="5458045"/>
            <a:ext cx="2217449" cy="207741"/>
          </a:xfrm>
          <a:prstGeom prst="rect">
            <a:avLst/>
          </a:prstGeom>
        </p:spPr>
        <p:txBody>
          <a:bodyPr anchor="t" rtlCol="false" tIns="0" lIns="0" bIns="0" rIns="0">
            <a:spAutoFit/>
          </a:bodyPr>
          <a:lstStyle/>
          <a:p>
            <a:pPr algn="l" marL="0" indent="0" lvl="0">
              <a:lnSpc>
                <a:spcPts val="1680"/>
              </a:lnSpc>
            </a:pPr>
            <a:r>
              <a:rPr lang="en-US" sz="1200" spc="-88">
                <a:solidFill>
                  <a:srgbClr val="000000"/>
                </a:solidFill>
                <a:latin typeface="Public Sans"/>
                <a:ea typeface="Public Sans"/>
                <a:cs typeface="Public Sans"/>
                <a:sym typeface="Public Sans"/>
              </a:rPr>
              <a:t>Learnable CLS Tokens Added</a:t>
            </a:r>
          </a:p>
        </p:txBody>
      </p:sp>
      <p:sp>
        <p:nvSpPr>
          <p:cNvPr name="TextBox 27" id="27"/>
          <p:cNvSpPr txBox="true"/>
          <p:nvPr/>
        </p:nvSpPr>
        <p:spPr>
          <a:xfrm rot="0">
            <a:off x="13863329" y="7552194"/>
            <a:ext cx="3029636" cy="532121"/>
          </a:xfrm>
          <a:prstGeom prst="rect">
            <a:avLst/>
          </a:prstGeom>
        </p:spPr>
        <p:txBody>
          <a:bodyPr anchor="t" rtlCol="false" tIns="0" lIns="0" bIns="0" rIns="0">
            <a:spAutoFit/>
          </a:bodyPr>
          <a:lstStyle/>
          <a:p>
            <a:pPr algn="l" marL="0" indent="0" lvl="0">
              <a:lnSpc>
                <a:spcPts val="4298"/>
              </a:lnSpc>
            </a:pPr>
            <a:r>
              <a:rPr lang="en-US" sz="3070" spc="-227">
                <a:solidFill>
                  <a:srgbClr val="F9F9F9"/>
                </a:solidFill>
                <a:latin typeface="Public Sans"/>
                <a:ea typeface="Public Sans"/>
                <a:cs typeface="Public Sans"/>
                <a:sym typeface="Public Sans"/>
              </a:rPr>
              <a:t>Transformer Blocks</a:t>
            </a:r>
          </a:p>
        </p:txBody>
      </p:sp>
      <p:sp>
        <p:nvSpPr>
          <p:cNvPr name="TextBox 28" id="28"/>
          <p:cNvSpPr txBox="true"/>
          <p:nvPr/>
        </p:nvSpPr>
        <p:spPr>
          <a:xfrm rot="0">
            <a:off x="13863329" y="8113103"/>
            <a:ext cx="2520710" cy="260985"/>
          </a:xfrm>
          <a:prstGeom prst="rect">
            <a:avLst/>
          </a:prstGeom>
        </p:spPr>
        <p:txBody>
          <a:bodyPr anchor="t" rtlCol="false" tIns="0" lIns="0" bIns="0" rIns="0">
            <a:spAutoFit/>
          </a:bodyPr>
          <a:lstStyle/>
          <a:p>
            <a:pPr algn="l" marL="0" indent="0" lvl="0">
              <a:lnSpc>
                <a:spcPts val="2059"/>
              </a:lnSpc>
            </a:pPr>
            <a:r>
              <a:rPr lang="en-US" sz="1471" spc="-108">
                <a:solidFill>
                  <a:srgbClr val="F9F9F9"/>
                </a:solidFill>
                <a:latin typeface="Public Sans"/>
                <a:ea typeface="Public Sans"/>
                <a:cs typeface="Public Sans"/>
                <a:sym typeface="Public Sans"/>
              </a:rPr>
              <a:t>M Stacked ST-Attention Layers</a:t>
            </a:r>
          </a:p>
        </p:txBody>
      </p:sp>
      <p:sp>
        <p:nvSpPr>
          <p:cNvPr name="TextBox 29" id="29"/>
          <p:cNvSpPr txBox="true"/>
          <p:nvPr/>
        </p:nvSpPr>
        <p:spPr>
          <a:xfrm rot="0">
            <a:off x="13863329" y="8431080"/>
            <a:ext cx="2217449" cy="207741"/>
          </a:xfrm>
          <a:prstGeom prst="rect">
            <a:avLst/>
          </a:prstGeom>
        </p:spPr>
        <p:txBody>
          <a:bodyPr anchor="t" rtlCol="false" tIns="0" lIns="0" bIns="0" rIns="0">
            <a:spAutoFit/>
          </a:bodyPr>
          <a:lstStyle/>
          <a:p>
            <a:pPr algn="l" marL="0" indent="0" lvl="0">
              <a:lnSpc>
                <a:spcPts val="1680"/>
              </a:lnSpc>
            </a:pPr>
            <a:r>
              <a:rPr lang="en-US" sz="1200" spc="-88">
                <a:solidFill>
                  <a:srgbClr val="F9F9F9"/>
                </a:solidFill>
                <a:latin typeface="Public Sans"/>
                <a:ea typeface="Public Sans"/>
                <a:cs typeface="Public Sans"/>
                <a:sym typeface="Public Sans"/>
              </a:rPr>
              <a:t>Deepfake Classification Head</a:t>
            </a:r>
          </a:p>
        </p:txBody>
      </p:sp>
      <p:sp>
        <p:nvSpPr>
          <p:cNvPr name="TextBox 30" id="30"/>
          <p:cNvSpPr txBox="true"/>
          <p:nvPr/>
        </p:nvSpPr>
        <p:spPr>
          <a:xfrm rot="0">
            <a:off x="1392728" y="4425834"/>
            <a:ext cx="3701509" cy="763572"/>
          </a:xfrm>
          <a:prstGeom prst="rect">
            <a:avLst/>
          </a:prstGeom>
        </p:spPr>
        <p:txBody>
          <a:bodyPr anchor="t" rtlCol="false" tIns="0" lIns="0" bIns="0" rIns="0">
            <a:spAutoFit/>
          </a:bodyPr>
          <a:lstStyle/>
          <a:p>
            <a:pPr algn="l" marL="0" indent="0" lvl="0">
              <a:lnSpc>
                <a:spcPts val="6171"/>
              </a:lnSpc>
            </a:pPr>
            <a:r>
              <a:rPr lang="en-US" sz="4408" spc="-326">
                <a:solidFill>
                  <a:srgbClr val="F9F9F9"/>
                </a:solidFill>
                <a:latin typeface="Public Sans"/>
                <a:ea typeface="Public Sans"/>
                <a:cs typeface="Public Sans"/>
                <a:sym typeface="Public Sans"/>
              </a:rPr>
              <a:t>Overview</a:t>
            </a:r>
          </a:p>
        </p:txBody>
      </p:sp>
      <p:sp>
        <p:nvSpPr>
          <p:cNvPr name="TextBox 31" id="31"/>
          <p:cNvSpPr txBox="true"/>
          <p:nvPr/>
        </p:nvSpPr>
        <p:spPr>
          <a:xfrm rot="0">
            <a:off x="3954748" y="4727654"/>
            <a:ext cx="4234459" cy="1654829"/>
          </a:xfrm>
          <a:prstGeom prst="rect">
            <a:avLst/>
          </a:prstGeom>
        </p:spPr>
        <p:txBody>
          <a:bodyPr anchor="t" rtlCol="false" tIns="0" lIns="0" bIns="0" rIns="0">
            <a:spAutoFit/>
          </a:bodyPr>
          <a:lstStyle/>
          <a:p>
            <a:pPr algn="l" marL="0" indent="0" lvl="0">
              <a:lnSpc>
                <a:spcPts val="2238"/>
              </a:lnSpc>
            </a:pPr>
            <a:r>
              <a:rPr lang="en-US" sz="1599" spc="-118">
                <a:solidFill>
                  <a:srgbClr val="F9F9F9"/>
                </a:solidFill>
                <a:latin typeface="Public Sans"/>
                <a:ea typeface="Public Sans"/>
                <a:cs typeface="Public Sans"/>
                <a:sym typeface="Public Sans"/>
              </a:rPr>
              <a:t>Xception entry-flow backbone extracts texture features per frame</a:t>
            </a:r>
          </a:p>
          <a:p>
            <a:pPr algn="l" marL="0" indent="0" lvl="0">
              <a:lnSpc>
                <a:spcPts val="2238"/>
              </a:lnSpc>
            </a:pPr>
            <a:r>
              <a:rPr lang="en-US" sz="1599" spc="-118">
                <a:solidFill>
                  <a:srgbClr val="F9F9F9"/>
                </a:solidFill>
                <a:latin typeface="Public Sans"/>
                <a:ea typeface="Public Sans"/>
                <a:cs typeface="Public Sans"/>
                <a:sym typeface="Public Sans"/>
              </a:rPr>
              <a:t>Patch tokens formed directly from feature maps — no separate embedding layer</a:t>
            </a:r>
          </a:p>
          <a:p>
            <a:pPr algn="l" marL="0" indent="0" lvl="0">
              <a:lnSpc>
                <a:spcPts val="2238"/>
              </a:lnSpc>
            </a:pPr>
            <a:r>
              <a:rPr lang="en-US" sz="1599" spc="-118">
                <a:solidFill>
                  <a:srgbClr val="F9F9F9"/>
                </a:solidFill>
                <a:latin typeface="Public Sans"/>
                <a:ea typeface="Public Sans"/>
                <a:cs typeface="Public Sans"/>
                <a:sym typeface="Public Sans"/>
              </a:rPr>
              <a:t>M stacked spatial-temporal transformer blocks for classification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0" y="1408229"/>
            <a:ext cx="18288000" cy="1955360"/>
          </a:xfrm>
          <a:custGeom>
            <a:avLst/>
            <a:gdLst/>
            <a:ahLst/>
            <a:cxnLst/>
            <a:rect r="r" b="b" t="t" l="l"/>
            <a:pathLst>
              <a:path h="1955360" w="18288000">
                <a:moveTo>
                  <a:pt x="0" y="0"/>
                </a:moveTo>
                <a:lnTo>
                  <a:pt x="18288000" y="0"/>
                </a:lnTo>
                <a:lnTo>
                  <a:pt x="18288000" y="1955360"/>
                </a:lnTo>
                <a:lnTo>
                  <a:pt x="0" y="1955360"/>
                </a:lnTo>
                <a:lnTo>
                  <a:pt x="0" y="0"/>
                </a:lnTo>
                <a:close/>
              </a:path>
            </a:pathLst>
          </a:custGeom>
          <a:blipFill>
            <a:blip r:embed="rId3">
              <a:alphaModFix amt="70000"/>
            </a:blip>
            <a:stretch>
              <a:fillRect l="-61654" t="-100395" r="0" b="-808461"/>
            </a:stretch>
          </a:blipFill>
        </p:spPr>
      </p:sp>
      <p:sp>
        <p:nvSpPr>
          <p:cNvPr name="TextBox 4" id="4"/>
          <p:cNvSpPr txBox="true"/>
          <p:nvPr/>
        </p:nvSpPr>
        <p:spPr>
          <a:xfrm rot="0">
            <a:off x="1127148" y="1589204"/>
            <a:ext cx="16033705" cy="1620883"/>
          </a:xfrm>
          <a:prstGeom prst="rect">
            <a:avLst/>
          </a:prstGeom>
        </p:spPr>
        <p:txBody>
          <a:bodyPr anchor="t" rtlCol="false" tIns="0" lIns="0" bIns="0" rIns="0">
            <a:spAutoFit/>
          </a:bodyPr>
          <a:lstStyle/>
          <a:p>
            <a:pPr algn="ctr" marL="0" indent="0" lvl="0">
              <a:lnSpc>
                <a:spcPts val="6113"/>
              </a:lnSpc>
            </a:pPr>
            <a:r>
              <a:rPr lang="en-US" sz="6792" spc="-407">
                <a:solidFill>
                  <a:srgbClr val="FFFFFF"/>
                </a:solidFill>
                <a:latin typeface="TT Interphases"/>
                <a:ea typeface="TT Interphases"/>
                <a:cs typeface="TT Interphases"/>
                <a:sym typeface="TT Interphases"/>
              </a:rPr>
              <a:t>DECOMPOSED SPATIAL-TEMPORAL SELF-ATTENTION</a:t>
            </a:r>
          </a:p>
        </p:txBody>
      </p:sp>
      <p:grpSp>
        <p:nvGrpSpPr>
          <p:cNvPr name="Group 5" id="5"/>
          <p:cNvGrpSpPr/>
          <p:nvPr/>
        </p:nvGrpSpPr>
        <p:grpSpPr>
          <a:xfrm rot="0">
            <a:off x="1033462" y="5143500"/>
            <a:ext cx="16225838" cy="4114800"/>
            <a:chOff x="0" y="0"/>
            <a:chExt cx="2403603" cy="609543"/>
          </a:xfrm>
        </p:grpSpPr>
        <p:sp>
          <p:nvSpPr>
            <p:cNvPr name="Freeform 6" id="6"/>
            <p:cNvSpPr/>
            <p:nvPr/>
          </p:nvSpPr>
          <p:spPr>
            <a:xfrm flipH="false" flipV="false" rot="0">
              <a:off x="0" y="0"/>
              <a:ext cx="2403603" cy="609543"/>
            </a:xfrm>
            <a:custGeom>
              <a:avLst/>
              <a:gdLst/>
              <a:ahLst/>
              <a:cxnLst/>
              <a:rect r="r" b="b" t="t" l="l"/>
              <a:pathLst>
                <a:path h="609543" w="2403603">
                  <a:moveTo>
                    <a:pt x="17177" y="0"/>
                  </a:moveTo>
                  <a:lnTo>
                    <a:pt x="2386426" y="0"/>
                  </a:lnTo>
                  <a:cubicBezTo>
                    <a:pt x="2395913" y="0"/>
                    <a:pt x="2403603" y="7690"/>
                    <a:pt x="2403603" y="17177"/>
                  </a:cubicBezTo>
                  <a:lnTo>
                    <a:pt x="2403603" y="592366"/>
                  </a:lnTo>
                  <a:cubicBezTo>
                    <a:pt x="2403603" y="596922"/>
                    <a:pt x="2401793" y="601291"/>
                    <a:pt x="2398572" y="604512"/>
                  </a:cubicBezTo>
                  <a:cubicBezTo>
                    <a:pt x="2395351" y="607733"/>
                    <a:pt x="2390982" y="609543"/>
                    <a:pt x="2386426" y="609543"/>
                  </a:cubicBezTo>
                  <a:lnTo>
                    <a:pt x="17177" y="609543"/>
                  </a:lnTo>
                  <a:cubicBezTo>
                    <a:pt x="7690" y="609543"/>
                    <a:pt x="0" y="601853"/>
                    <a:pt x="0" y="592366"/>
                  </a:cubicBezTo>
                  <a:lnTo>
                    <a:pt x="0" y="17177"/>
                  </a:lnTo>
                  <a:cubicBezTo>
                    <a:pt x="0" y="7690"/>
                    <a:pt x="7690" y="0"/>
                    <a:pt x="17177"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FFFFF"/>
              </a:solidFill>
              <a:prstDash val="solid"/>
              <a:round/>
            </a:ln>
          </p:spPr>
        </p:sp>
        <p:sp>
          <p:nvSpPr>
            <p:cNvPr name="TextBox 7" id="7"/>
            <p:cNvSpPr txBox="true"/>
            <p:nvPr/>
          </p:nvSpPr>
          <p:spPr>
            <a:xfrm>
              <a:off x="0" y="-38100"/>
              <a:ext cx="2403603" cy="6476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2106278" y="4670901"/>
            <a:ext cx="6545708" cy="1073547"/>
            <a:chOff x="0" y="0"/>
            <a:chExt cx="969644" cy="159029"/>
          </a:xfrm>
        </p:grpSpPr>
        <p:sp>
          <p:nvSpPr>
            <p:cNvPr name="Freeform 9" id="9"/>
            <p:cNvSpPr/>
            <p:nvPr/>
          </p:nvSpPr>
          <p:spPr>
            <a:xfrm flipH="false" flipV="false" rot="0">
              <a:off x="0" y="0"/>
              <a:ext cx="969644" cy="159029"/>
            </a:xfrm>
            <a:custGeom>
              <a:avLst/>
              <a:gdLst/>
              <a:ahLst/>
              <a:cxnLst/>
              <a:rect r="r" b="b" t="t" l="l"/>
              <a:pathLst>
                <a:path h="159029" w="969644">
                  <a:moveTo>
                    <a:pt x="31934" y="0"/>
                  </a:moveTo>
                  <a:lnTo>
                    <a:pt x="937710" y="0"/>
                  </a:lnTo>
                  <a:cubicBezTo>
                    <a:pt x="955346" y="0"/>
                    <a:pt x="969644" y="14297"/>
                    <a:pt x="969644" y="31934"/>
                  </a:cubicBezTo>
                  <a:lnTo>
                    <a:pt x="969644" y="127095"/>
                  </a:lnTo>
                  <a:cubicBezTo>
                    <a:pt x="969644" y="144732"/>
                    <a:pt x="955346" y="159029"/>
                    <a:pt x="937710" y="159029"/>
                  </a:cubicBezTo>
                  <a:lnTo>
                    <a:pt x="31934" y="159029"/>
                  </a:lnTo>
                  <a:cubicBezTo>
                    <a:pt x="14297" y="159029"/>
                    <a:pt x="0" y="144732"/>
                    <a:pt x="0" y="127095"/>
                  </a:cubicBezTo>
                  <a:lnTo>
                    <a:pt x="0" y="31934"/>
                  </a:lnTo>
                  <a:cubicBezTo>
                    <a:pt x="0" y="14297"/>
                    <a:pt x="14297" y="0"/>
                    <a:pt x="31934"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10" id="10"/>
            <p:cNvSpPr txBox="true"/>
            <p:nvPr/>
          </p:nvSpPr>
          <p:spPr>
            <a:xfrm>
              <a:off x="0" y="-38100"/>
              <a:ext cx="969644" cy="19712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9636015" y="4670901"/>
            <a:ext cx="6545708" cy="1073547"/>
            <a:chOff x="0" y="0"/>
            <a:chExt cx="969644" cy="159029"/>
          </a:xfrm>
        </p:grpSpPr>
        <p:sp>
          <p:nvSpPr>
            <p:cNvPr name="Freeform 12" id="12"/>
            <p:cNvSpPr/>
            <p:nvPr/>
          </p:nvSpPr>
          <p:spPr>
            <a:xfrm flipH="false" flipV="false" rot="0">
              <a:off x="0" y="0"/>
              <a:ext cx="969644" cy="159029"/>
            </a:xfrm>
            <a:custGeom>
              <a:avLst/>
              <a:gdLst/>
              <a:ahLst/>
              <a:cxnLst/>
              <a:rect r="r" b="b" t="t" l="l"/>
              <a:pathLst>
                <a:path h="159029" w="969644">
                  <a:moveTo>
                    <a:pt x="31934" y="0"/>
                  </a:moveTo>
                  <a:lnTo>
                    <a:pt x="937710" y="0"/>
                  </a:lnTo>
                  <a:cubicBezTo>
                    <a:pt x="955346" y="0"/>
                    <a:pt x="969644" y="14297"/>
                    <a:pt x="969644" y="31934"/>
                  </a:cubicBezTo>
                  <a:lnTo>
                    <a:pt x="969644" y="127095"/>
                  </a:lnTo>
                  <a:cubicBezTo>
                    <a:pt x="969644" y="144732"/>
                    <a:pt x="955346" y="159029"/>
                    <a:pt x="937710" y="159029"/>
                  </a:cubicBezTo>
                  <a:lnTo>
                    <a:pt x="31934" y="159029"/>
                  </a:lnTo>
                  <a:cubicBezTo>
                    <a:pt x="14297" y="159029"/>
                    <a:pt x="0" y="144732"/>
                    <a:pt x="0" y="127095"/>
                  </a:cubicBezTo>
                  <a:lnTo>
                    <a:pt x="0" y="31934"/>
                  </a:lnTo>
                  <a:cubicBezTo>
                    <a:pt x="0" y="14297"/>
                    <a:pt x="14297" y="0"/>
                    <a:pt x="31934"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13" id="13"/>
            <p:cNvSpPr txBox="true"/>
            <p:nvPr/>
          </p:nvSpPr>
          <p:spPr>
            <a:xfrm>
              <a:off x="0" y="-38100"/>
              <a:ext cx="969644" cy="19712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2531388" y="4959869"/>
            <a:ext cx="5120362" cy="558056"/>
          </a:xfrm>
          <a:prstGeom prst="rect">
            <a:avLst/>
          </a:prstGeom>
        </p:spPr>
        <p:txBody>
          <a:bodyPr anchor="t" rtlCol="false" tIns="0" lIns="0" bIns="0" rIns="0">
            <a:spAutoFit/>
          </a:bodyPr>
          <a:lstStyle/>
          <a:p>
            <a:pPr algn="l" marL="0" indent="0" lvl="0">
              <a:lnSpc>
                <a:spcPts val="4303"/>
              </a:lnSpc>
            </a:pPr>
            <a:r>
              <a:rPr lang="en-US" sz="4098" spc="-352">
                <a:solidFill>
                  <a:srgbClr val="3C0C19"/>
                </a:solidFill>
                <a:latin typeface="Helvetica World"/>
                <a:ea typeface="Helvetica World"/>
                <a:cs typeface="Helvetica World"/>
                <a:sym typeface="Helvetica World"/>
              </a:rPr>
              <a:t>Temporal Self-Attention</a:t>
            </a:r>
          </a:p>
        </p:txBody>
      </p:sp>
      <p:sp>
        <p:nvSpPr>
          <p:cNvPr name="TextBox 15" id="15"/>
          <p:cNvSpPr txBox="true"/>
          <p:nvPr/>
        </p:nvSpPr>
        <p:spPr>
          <a:xfrm rot="0">
            <a:off x="10061125" y="4959869"/>
            <a:ext cx="5120362" cy="558056"/>
          </a:xfrm>
          <a:prstGeom prst="rect">
            <a:avLst/>
          </a:prstGeom>
        </p:spPr>
        <p:txBody>
          <a:bodyPr anchor="t" rtlCol="false" tIns="0" lIns="0" bIns="0" rIns="0">
            <a:spAutoFit/>
          </a:bodyPr>
          <a:lstStyle/>
          <a:p>
            <a:pPr algn="l" marL="0" indent="0" lvl="0">
              <a:lnSpc>
                <a:spcPts val="4303"/>
              </a:lnSpc>
            </a:pPr>
            <a:r>
              <a:rPr lang="en-US" sz="4098" spc="-352">
                <a:solidFill>
                  <a:srgbClr val="3C0C19"/>
                </a:solidFill>
                <a:latin typeface="Helvetica World"/>
                <a:ea typeface="Helvetica World"/>
                <a:cs typeface="Helvetica World"/>
                <a:sym typeface="Helvetica World"/>
              </a:rPr>
              <a:t>Spatial Self-Attention</a:t>
            </a:r>
          </a:p>
        </p:txBody>
      </p:sp>
      <p:sp>
        <p:nvSpPr>
          <p:cNvPr name="TextBox 16" id="16"/>
          <p:cNvSpPr txBox="true"/>
          <p:nvPr/>
        </p:nvSpPr>
        <p:spPr>
          <a:xfrm rot="0">
            <a:off x="2531388" y="6298601"/>
            <a:ext cx="5861113" cy="2120900"/>
          </a:xfrm>
          <a:prstGeom prst="rect">
            <a:avLst/>
          </a:prstGeom>
        </p:spPr>
        <p:txBody>
          <a:bodyPr anchor="t" rtlCol="false" tIns="0" lIns="0" bIns="0" rIns="0">
            <a:spAutoFit/>
          </a:bodyPr>
          <a:lstStyle/>
          <a:p>
            <a:pPr algn="l" marL="0" indent="0" lvl="0">
              <a:lnSpc>
                <a:spcPts val="2800"/>
              </a:lnSpc>
            </a:pPr>
            <a:r>
              <a:rPr lang="en-US" sz="2000" spc="-70">
                <a:solidFill>
                  <a:srgbClr val="FFFFFF"/>
                </a:solidFill>
                <a:latin typeface="Public Sans Light"/>
                <a:ea typeface="Public Sans Light"/>
                <a:cs typeface="Public Sans Light"/>
                <a:sym typeface="Public Sans Light"/>
              </a:rPr>
              <a:t>For each spatial position, attend across all T frames in the sequence. The self-subtract mechanism subtracts consecutive frame tokens before Q and K projection, forcing the model to focus on inter-frame changes and forgery inconsistencies.</a:t>
            </a:r>
          </a:p>
          <a:p>
            <a:pPr algn="l" marL="0" indent="0" lvl="0">
              <a:lnSpc>
                <a:spcPts val="2800"/>
              </a:lnSpc>
            </a:pPr>
            <a:r>
              <a:rPr lang="en-US" sz="2000" spc="-70">
                <a:solidFill>
                  <a:srgbClr val="FFFFFF"/>
                </a:solidFill>
                <a:latin typeface="Public Sans Light"/>
                <a:ea typeface="Public Sans Light"/>
                <a:cs typeface="Public Sans Light"/>
                <a:sym typeface="Public Sans Light"/>
              </a:rPr>
              <a:t>Complexity: O(T²) per spatial location.</a:t>
            </a:r>
          </a:p>
        </p:txBody>
      </p:sp>
      <p:sp>
        <p:nvSpPr>
          <p:cNvPr name="TextBox 17" id="17"/>
          <p:cNvSpPr txBox="true"/>
          <p:nvPr/>
        </p:nvSpPr>
        <p:spPr>
          <a:xfrm rot="0">
            <a:off x="10061125" y="6298601"/>
            <a:ext cx="5861113" cy="2120900"/>
          </a:xfrm>
          <a:prstGeom prst="rect">
            <a:avLst/>
          </a:prstGeom>
        </p:spPr>
        <p:txBody>
          <a:bodyPr anchor="t" rtlCol="false" tIns="0" lIns="0" bIns="0" rIns="0">
            <a:spAutoFit/>
          </a:bodyPr>
          <a:lstStyle/>
          <a:p>
            <a:pPr algn="l" marL="0" indent="0" lvl="0">
              <a:lnSpc>
                <a:spcPts val="2800"/>
              </a:lnSpc>
            </a:pPr>
            <a:r>
              <a:rPr lang="en-US" sz="2000" spc="-70">
                <a:solidFill>
                  <a:srgbClr val="FFFFFF"/>
                </a:solidFill>
                <a:latin typeface="Public Sans Light"/>
                <a:ea typeface="Public Sans Light"/>
                <a:cs typeface="Public Sans Light"/>
                <a:sym typeface="Public Sans Light"/>
              </a:rPr>
              <a:t>For each frame, attend across all spatial patch positions H×W. Captures intra-frame texture and structural cues extracted by the Xception backbone.</a:t>
            </a:r>
          </a:p>
          <a:p>
            <a:pPr algn="l" marL="0" indent="0" lvl="0">
              <a:lnSpc>
                <a:spcPts val="2800"/>
              </a:lnSpc>
            </a:pPr>
            <a:r>
              <a:rPr lang="en-US" sz="2000" spc="-70">
                <a:solidFill>
                  <a:srgbClr val="FFFFFF"/>
                </a:solidFill>
                <a:latin typeface="Public Sans Light"/>
                <a:ea typeface="Public Sans Light"/>
                <a:cs typeface="Public Sans Light"/>
                <a:sym typeface="Public Sans Light"/>
              </a:rPr>
              <a:t>Complexity: O(H²W²) per frame.</a:t>
            </a:r>
          </a:p>
          <a:p>
            <a:pPr algn="l" marL="0" indent="0" lvl="0">
              <a:lnSpc>
                <a:spcPts val="2800"/>
              </a:lnSpc>
            </a:pPr>
            <a:r>
              <a:rPr lang="en-US" sz="2000" spc="-70">
                <a:solidFill>
                  <a:srgbClr val="FFFFFF"/>
                </a:solidFill>
                <a:latin typeface="Public Sans Light"/>
                <a:ea typeface="Public Sans Light"/>
                <a:cs typeface="Public Sans Light"/>
                <a:sym typeface="Public Sans Light"/>
              </a:rPr>
              <a:t>Combined reduction: O(T²H²W²) → O(T² + H²W²), enabling scalable video-level inference.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1028700" y="1028700"/>
            <a:ext cx="12518964" cy="3188105"/>
          </a:xfrm>
          <a:custGeom>
            <a:avLst/>
            <a:gdLst/>
            <a:ahLst/>
            <a:cxnLst/>
            <a:rect r="r" b="b" t="t" l="l"/>
            <a:pathLst>
              <a:path h="3188105" w="12518964">
                <a:moveTo>
                  <a:pt x="0" y="0"/>
                </a:moveTo>
                <a:lnTo>
                  <a:pt x="12518964" y="0"/>
                </a:lnTo>
                <a:lnTo>
                  <a:pt x="12518964" y="3188105"/>
                </a:lnTo>
                <a:lnTo>
                  <a:pt x="0" y="3188105"/>
                </a:lnTo>
                <a:lnTo>
                  <a:pt x="0" y="0"/>
                </a:lnTo>
                <a:close/>
              </a:path>
            </a:pathLst>
          </a:custGeom>
          <a:blipFill>
            <a:blip r:embed="rId3">
              <a:alphaModFix amt="70000"/>
            </a:blip>
            <a:stretch>
              <a:fillRect l="0" t="-66" r="0" b="-66"/>
            </a:stretch>
          </a:blipFill>
        </p:spPr>
      </p:sp>
      <p:sp>
        <p:nvSpPr>
          <p:cNvPr name="TextBox 4" id="4"/>
          <p:cNvSpPr txBox="true"/>
          <p:nvPr/>
        </p:nvSpPr>
        <p:spPr>
          <a:xfrm rot="0">
            <a:off x="1509613" y="1343025"/>
            <a:ext cx="12312515" cy="2611727"/>
          </a:xfrm>
          <a:prstGeom prst="rect">
            <a:avLst/>
          </a:prstGeom>
        </p:spPr>
        <p:txBody>
          <a:bodyPr anchor="t" rtlCol="false" tIns="0" lIns="0" bIns="0" rIns="0">
            <a:spAutoFit/>
          </a:bodyPr>
          <a:lstStyle/>
          <a:p>
            <a:pPr algn="l" marL="0" indent="0" lvl="0">
              <a:lnSpc>
                <a:spcPts val="9909"/>
              </a:lnSpc>
            </a:pPr>
            <a:r>
              <a:rPr lang="en-US" sz="11010" spc="-660">
                <a:solidFill>
                  <a:srgbClr val="FFFFFF"/>
                </a:solidFill>
                <a:latin typeface="TT Interphases"/>
                <a:ea typeface="TT Interphases"/>
                <a:cs typeface="TT Interphases"/>
                <a:sym typeface="TT Interphases"/>
              </a:rPr>
              <a:t>THE SELF-SUBTRACT</a:t>
            </a:r>
          </a:p>
          <a:p>
            <a:pPr algn="l" marL="0" indent="0" lvl="0">
              <a:lnSpc>
                <a:spcPts val="9909"/>
              </a:lnSpc>
            </a:pPr>
            <a:r>
              <a:rPr lang="en-US" sz="11010" spc="-660">
                <a:solidFill>
                  <a:srgbClr val="FFFFFF"/>
                </a:solidFill>
                <a:latin typeface="TT Interphases"/>
                <a:ea typeface="TT Interphases"/>
                <a:cs typeface="TT Interphases"/>
                <a:sym typeface="TT Interphases"/>
              </a:rPr>
              <a:t>MECHANISM</a:t>
            </a:r>
          </a:p>
        </p:txBody>
      </p:sp>
      <p:grpSp>
        <p:nvGrpSpPr>
          <p:cNvPr name="Group 5" id="5"/>
          <p:cNvGrpSpPr/>
          <p:nvPr/>
        </p:nvGrpSpPr>
        <p:grpSpPr>
          <a:xfrm rot="0">
            <a:off x="11098007" y="3426361"/>
            <a:ext cx="5448243" cy="5831939"/>
            <a:chOff x="0" y="0"/>
            <a:chExt cx="844075" cy="903520"/>
          </a:xfrm>
        </p:grpSpPr>
        <p:sp>
          <p:nvSpPr>
            <p:cNvPr name="Freeform 6" id="6"/>
            <p:cNvSpPr/>
            <p:nvPr/>
          </p:nvSpPr>
          <p:spPr>
            <a:xfrm flipH="false" flipV="false" rot="0">
              <a:off x="0" y="0"/>
              <a:ext cx="844075" cy="903520"/>
            </a:xfrm>
            <a:custGeom>
              <a:avLst/>
              <a:gdLst/>
              <a:ahLst/>
              <a:cxnLst/>
              <a:rect r="r" b="b" t="t" l="l"/>
              <a:pathLst>
                <a:path h="903520" w="844075">
                  <a:moveTo>
                    <a:pt x="21315" y="0"/>
                  </a:moveTo>
                  <a:lnTo>
                    <a:pt x="822761" y="0"/>
                  </a:lnTo>
                  <a:cubicBezTo>
                    <a:pt x="828414" y="0"/>
                    <a:pt x="833835" y="2246"/>
                    <a:pt x="837832" y="6243"/>
                  </a:cubicBezTo>
                  <a:cubicBezTo>
                    <a:pt x="841830" y="10240"/>
                    <a:pt x="844075" y="15662"/>
                    <a:pt x="844075" y="21315"/>
                  </a:cubicBezTo>
                  <a:lnTo>
                    <a:pt x="844075" y="882205"/>
                  </a:lnTo>
                  <a:cubicBezTo>
                    <a:pt x="844075" y="893977"/>
                    <a:pt x="834532" y="903520"/>
                    <a:pt x="822761" y="903520"/>
                  </a:cubicBezTo>
                  <a:lnTo>
                    <a:pt x="21315" y="903520"/>
                  </a:lnTo>
                  <a:cubicBezTo>
                    <a:pt x="9543" y="903520"/>
                    <a:pt x="0" y="893977"/>
                    <a:pt x="0" y="882205"/>
                  </a:cubicBezTo>
                  <a:lnTo>
                    <a:pt x="0" y="21315"/>
                  </a:lnTo>
                  <a:cubicBezTo>
                    <a:pt x="0" y="9543"/>
                    <a:pt x="9543" y="0"/>
                    <a:pt x="21315" y="0"/>
                  </a:cubicBezTo>
                  <a:close/>
                </a:path>
              </a:pathLst>
            </a:custGeom>
            <a:blipFill>
              <a:blip r:embed="rId4"/>
              <a:stretch>
                <a:fillRect l="0" t="-24" r="0" b="-24"/>
              </a:stretch>
            </a:blipFill>
            <a:ln w="9525" cap="sq">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miter/>
            </a:ln>
          </p:spPr>
        </p:sp>
      </p:grpSp>
      <p:sp>
        <p:nvSpPr>
          <p:cNvPr name="TextBox 7" id="7"/>
          <p:cNvSpPr txBox="true"/>
          <p:nvPr/>
        </p:nvSpPr>
        <p:spPr>
          <a:xfrm rot="0">
            <a:off x="2322966" y="4595667"/>
            <a:ext cx="8333124" cy="1563370"/>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Each frame's token is subtracted from the next frame's token before query and key projection. This forces the temporal branch to focus exclusively on inter-frame changes, eliminating redundant static content and highlighting forgery inconsistencies between consecutive frames.</a:t>
            </a:r>
          </a:p>
        </p:txBody>
      </p:sp>
      <p:sp>
        <p:nvSpPr>
          <p:cNvPr name="TextBox 8" id="8"/>
          <p:cNvSpPr txBox="true"/>
          <p:nvPr/>
        </p:nvSpPr>
        <p:spPr>
          <a:xfrm rot="0">
            <a:off x="2322966" y="6974679"/>
            <a:ext cx="8333124" cy="1563370"/>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Crucially, the value vectors are computed from the original (unsubtracted) tokens, preserving full content information during attention aggregation. This design captures frame-by-frame forgery artifacts while retaining semantic richness needed for accurate classification.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8086998" y="832865"/>
            <a:ext cx="8766097" cy="3019989"/>
          </a:xfrm>
          <a:custGeom>
            <a:avLst/>
            <a:gdLst/>
            <a:ahLst/>
            <a:cxnLst/>
            <a:rect r="r" b="b" t="t" l="l"/>
            <a:pathLst>
              <a:path h="3019989" w="8766097">
                <a:moveTo>
                  <a:pt x="0" y="0"/>
                </a:moveTo>
                <a:lnTo>
                  <a:pt x="8766097" y="0"/>
                </a:lnTo>
                <a:lnTo>
                  <a:pt x="8766097" y="3019989"/>
                </a:lnTo>
                <a:lnTo>
                  <a:pt x="0" y="3019989"/>
                </a:lnTo>
                <a:lnTo>
                  <a:pt x="0" y="0"/>
                </a:lnTo>
                <a:close/>
              </a:path>
            </a:pathLst>
          </a:custGeom>
          <a:blipFill>
            <a:blip r:embed="rId3">
              <a:alphaModFix amt="70000"/>
            </a:blip>
            <a:stretch>
              <a:fillRect l="-225511" t="-65003" r="-11734" b="-488204"/>
            </a:stretch>
          </a:blipFill>
        </p:spPr>
      </p:sp>
      <p:sp>
        <p:nvSpPr>
          <p:cNvPr name="TextBox 4" id="4"/>
          <p:cNvSpPr txBox="true"/>
          <p:nvPr/>
        </p:nvSpPr>
        <p:spPr>
          <a:xfrm rot="0">
            <a:off x="8503488" y="1147190"/>
            <a:ext cx="8755812" cy="2620736"/>
          </a:xfrm>
          <a:prstGeom prst="rect">
            <a:avLst/>
          </a:prstGeom>
        </p:spPr>
        <p:txBody>
          <a:bodyPr anchor="t" rtlCol="false" tIns="0" lIns="0" bIns="0" rIns="0">
            <a:spAutoFit/>
          </a:bodyPr>
          <a:lstStyle/>
          <a:p>
            <a:pPr algn="l" marL="0" indent="0" lvl="0">
              <a:lnSpc>
                <a:spcPts val="9912"/>
              </a:lnSpc>
            </a:pPr>
            <a:r>
              <a:rPr lang="en-US" sz="11013" spc="-660">
                <a:solidFill>
                  <a:srgbClr val="FFFFFF"/>
                </a:solidFill>
                <a:latin typeface="TT Interphases"/>
                <a:ea typeface="TT Interphases"/>
                <a:cs typeface="TT Interphases"/>
                <a:sym typeface="TT Interphases"/>
              </a:rPr>
              <a:t>INTERPRETING</a:t>
            </a:r>
          </a:p>
          <a:p>
            <a:pPr algn="l" marL="0" indent="0" lvl="0">
              <a:lnSpc>
                <a:spcPts val="9912"/>
              </a:lnSpc>
            </a:pPr>
            <a:r>
              <a:rPr lang="en-US" sz="11013" spc="-660">
                <a:solidFill>
                  <a:srgbClr val="FFFFFF"/>
                </a:solidFill>
                <a:latin typeface="TT Interphases"/>
                <a:ea typeface="TT Interphases"/>
                <a:cs typeface="TT Interphases"/>
                <a:sym typeface="TT Interphases"/>
              </a:rPr>
              <a:t>THE MODEL</a:t>
            </a:r>
          </a:p>
        </p:txBody>
      </p:sp>
      <p:sp>
        <p:nvSpPr>
          <p:cNvPr name="TextBox 5" id="5"/>
          <p:cNvSpPr txBox="true"/>
          <p:nvPr/>
        </p:nvSpPr>
        <p:spPr>
          <a:xfrm rot="0">
            <a:off x="10122197" y="4440007"/>
            <a:ext cx="6730898" cy="1953934"/>
          </a:xfrm>
          <a:prstGeom prst="rect">
            <a:avLst/>
          </a:prstGeom>
        </p:spPr>
        <p:txBody>
          <a:bodyPr anchor="t" rtlCol="false" tIns="0" lIns="0" bIns="0" rIns="0">
            <a:spAutoFit/>
          </a:bodyPr>
          <a:lstStyle/>
          <a:p>
            <a:pPr algn="l" marL="0" indent="0" lvl="0">
              <a:lnSpc>
                <a:spcPts val="3077"/>
              </a:lnSpc>
            </a:pPr>
            <a:r>
              <a:rPr lang="en-US" sz="2198" i="true" spc="-138">
                <a:solidFill>
                  <a:srgbClr val="F9F9F9"/>
                </a:solidFill>
                <a:latin typeface="Public Sans Light Italics"/>
                <a:ea typeface="Public Sans Light Italics"/>
                <a:cs typeface="Public Sans Light Italics"/>
                <a:sym typeface="Public Sans Light Italics"/>
              </a:rPr>
              <a:t>Layer-wise Relevance Propagation (LRP) is implemented from the original method — not a simplified substitute. Forward attention weights and backward gradients are captured via PyTorch hooks, enabling a faithful attribution of each model decision back through the transformer blocks.</a:t>
            </a:r>
          </a:p>
        </p:txBody>
      </p:sp>
      <p:sp>
        <p:nvSpPr>
          <p:cNvPr name="TextBox 6" id="6"/>
          <p:cNvSpPr txBox="true"/>
          <p:nvPr/>
        </p:nvSpPr>
        <p:spPr>
          <a:xfrm rot="0">
            <a:off x="8372729" y="7477350"/>
            <a:ext cx="8480367" cy="1563409"/>
          </a:xfrm>
          <a:prstGeom prst="rect">
            <a:avLst/>
          </a:prstGeom>
        </p:spPr>
        <p:txBody>
          <a:bodyPr anchor="t" rtlCol="false" tIns="0" lIns="0" bIns="0" rIns="0">
            <a:spAutoFit/>
          </a:bodyPr>
          <a:lstStyle/>
          <a:p>
            <a:pPr algn="l" marL="0" indent="0" lvl="0">
              <a:lnSpc>
                <a:spcPts val="3077"/>
              </a:lnSpc>
            </a:pPr>
            <a:r>
              <a:rPr lang="en-US" sz="2198" i="true" spc="-138">
                <a:solidFill>
                  <a:srgbClr val="F9F9F9"/>
                </a:solidFill>
                <a:latin typeface="Public Sans Light Italics"/>
                <a:ea typeface="Public Sans Light Italics"/>
                <a:cs typeface="Public Sans Light Italics"/>
                <a:sym typeface="Public Sans Light Italics"/>
              </a:rPr>
              <a:t>The pipeline produces separate spatial and temporal relevance heatmaps for each frame. Spatial heatmaps highlight suspicious face regions, while temporal heatmaps reveal which frame transitions carry the strongest forgery signal. Results are verified end-to-end on real test sequences.</a:t>
            </a:r>
          </a:p>
        </p:txBody>
      </p:sp>
      <p:grpSp>
        <p:nvGrpSpPr>
          <p:cNvPr name="Group 7" id="7"/>
          <p:cNvGrpSpPr/>
          <p:nvPr/>
        </p:nvGrpSpPr>
        <p:grpSpPr>
          <a:xfrm rot="0">
            <a:off x="1127741" y="1490328"/>
            <a:ext cx="6368688" cy="4066843"/>
            <a:chOff x="0" y="0"/>
            <a:chExt cx="957333" cy="611323"/>
          </a:xfrm>
        </p:grpSpPr>
        <p:sp>
          <p:nvSpPr>
            <p:cNvPr name="Freeform 8" id="8"/>
            <p:cNvSpPr/>
            <p:nvPr/>
          </p:nvSpPr>
          <p:spPr>
            <a:xfrm flipH="false" flipV="false" rot="0">
              <a:off x="0" y="0"/>
              <a:ext cx="957333" cy="611323"/>
            </a:xfrm>
            <a:custGeom>
              <a:avLst/>
              <a:gdLst/>
              <a:ahLst/>
              <a:cxnLst/>
              <a:rect r="r" b="b" t="t" l="l"/>
              <a:pathLst>
                <a:path h="611323" w="957333">
                  <a:moveTo>
                    <a:pt x="65644" y="0"/>
                  </a:moveTo>
                  <a:lnTo>
                    <a:pt x="891689" y="0"/>
                  </a:lnTo>
                  <a:cubicBezTo>
                    <a:pt x="909099" y="0"/>
                    <a:pt x="925796" y="6916"/>
                    <a:pt x="938106" y="19227"/>
                  </a:cubicBezTo>
                  <a:cubicBezTo>
                    <a:pt x="950417" y="31537"/>
                    <a:pt x="957333" y="48234"/>
                    <a:pt x="957333" y="65644"/>
                  </a:cubicBezTo>
                  <a:lnTo>
                    <a:pt x="957333" y="545679"/>
                  </a:lnTo>
                  <a:cubicBezTo>
                    <a:pt x="957333" y="563089"/>
                    <a:pt x="950417" y="579785"/>
                    <a:pt x="938106" y="592096"/>
                  </a:cubicBezTo>
                  <a:cubicBezTo>
                    <a:pt x="925796" y="604407"/>
                    <a:pt x="909099" y="611323"/>
                    <a:pt x="891689" y="611323"/>
                  </a:cubicBezTo>
                  <a:lnTo>
                    <a:pt x="65644" y="611323"/>
                  </a:lnTo>
                  <a:cubicBezTo>
                    <a:pt x="48234" y="611323"/>
                    <a:pt x="31537" y="604407"/>
                    <a:pt x="19227" y="592096"/>
                  </a:cubicBezTo>
                  <a:cubicBezTo>
                    <a:pt x="6916" y="579785"/>
                    <a:pt x="0" y="563089"/>
                    <a:pt x="0" y="545679"/>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9" id="9"/>
            <p:cNvSpPr txBox="true"/>
            <p:nvPr/>
          </p:nvSpPr>
          <p:spPr>
            <a:xfrm>
              <a:off x="0" y="-38100"/>
              <a:ext cx="957333" cy="64942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127741" y="7191600"/>
            <a:ext cx="6368688" cy="3095400"/>
            <a:chOff x="0" y="0"/>
            <a:chExt cx="957333" cy="465296"/>
          </a:xfrm>
        </p:grpSpPr>
        <p:sp>
          <p:nvSpPr>
            <p:cNvPr name="Freeform 11" id="11"/>
            <p:cNvSpPr/>
            <p:nvPr/>
          </p:nvSpPr>
          <p:spPr>
            <a:xfrm flipH="false" flipV="false" rot="0">
              <a:off x="0" y="0"/>
              <a:ext cx="957333" cy="465296"/>
            </a:xfrm>
            <a:custGeom>
              <a:avLst/>
              <a:gdLst/>
              <a:ahLst/>
              <a:cxnLst/>
              <a:rect r="r" b="b" t="t" l="l"/>
              <a:pathLst>
                <a:path h="465296" w="957333">
                  <a:moveTo>
                    <a:pt x="65644" y="0"/>
                  </a:moveTo>
                  <a:lnTo>
                    <a:pt x="891689" y="0"/>
                  </a:lnTo>
                  <a:cubicBezTo>
                    <a:pt x="909099" y="0"/>
                    <a:pt x="925796" y="6916"/>
                    <a:pt x="938106" y="19227"/>
                  </a:cubicBezTo>
                  <a:cubicBezTo>
                    <a:pt x="950417" y="31537"/>
                    <a:pt x="957333" y="48234"/>
                    <a:pt x="957333" y="65644"/>
                  </a:cubicBezTo>
                  <a:lnTo>
                    <a:pt x="957333" y="399653"/>
                  </a:lnTo>
                  <a:cubicBezTo>
                    <a:pt x="957333" y="417063"/>
                    <a:pt x="950417" y="433759"/>
                    <a:pt x="938106" y="446070"/>
                  </a:cubicBezTo>
                  <a:cubicBezTo>
                    <a:pt x="925796" y="458380"/>
                    <a:pt x="909099" y="465296"/>
                    <a:pt x="891689" y="465296"/>
                  </a:cubicBezTo>
                  <a:lnTo>
                    <a:pt x="65644" y="465296"/>
                  </a:lnTo>
                  <a:cubicBezTo>
                    <a:pt x="48234" y="465296"/>
                    <a:pt x="31537" y="458380"/>
                    <a:pt x="19227" y="446070"/>
                  </a:cubicBezTo>
                  <a:cubicBezTo>
                    <a:pt x="6916" y="433759"/>
                    <a:pt x="0" y="417063"/>
                    <a:pt x="0" y="399653"/>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12" id="12"/>
            <p:cNvSpPr txBox="true"/>
            <p:nvPr/>
          </p:nvSpPr>
          <p:spPr>
            <a:xfrm>
              <a:off x="0" y="-38100"/>
              <a:ext cx="957333" cy="50339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3596457" y="4294537"/>
            <a:ext cx="6049421" cy="2592263"/>
            <a:chOff x="0" y="0"/>
            <a:chExt cx="909341" cy="389666"/>
          </a:xfrm>
        </p:grpSpPr>
        <p:sp>
          <p:nvSpPr>
            <p:cNvPr name="Freeform 14" id="14"/>
            <p:cNvSpPr/>
            <p:nvPr/>
          </p:nvSpPr>
          <p:spPr>
            <a:xfrm flipH="false" flipV="false" rot="0">
              <a:off x="0" y="0"/>
              <a:ext cx="909341" cy="389666"/>
            </a:xfrm>
            <a:custGeom>
              <a:avLst/>
              <a:gdLst/>
              <a:ahLst/>
              <a:cxnLst/>
              <a:rect r="r" b="b" t="t" l="l"/>
              <a:pathLst>
                <a:path h="389666" w="909341">
                  <a:moveTo>
                    <a:pt x="69108" y="0"/>
                  </a:moveTo>
                  <a:lnTo>
                    <a:pt x="840233" y="0"/>
                  </a:lnTo>
                  <a:cubicBezTo>
                    <a:pt x="878400" y="0"/>
                    <a:pt x="909341" y="30941"/>
                    <a:pt x="909341" y="69108"/>
                  </a:cubicBezTo>
                  <a:lnTo>
                    <a:pt x="909341" y="320558"/>
                  </a:lnTo>
                  <a:cubicBezTo>
                    <a:pt x="909341" y="338886"/>
                    <a:pt x="902060" y="356464"/>
                    <a:pt x="889100" y="369424"/>
                  </a:cubicBezTo>
                  <a:cubicBezTo>
                    <a:pt x="876140" y="382385"/>
                    <a:pt x="858562" y="389666"/>
                    <a:pt x="840233" y="389666"/>
                  </a:cubicBezTo>
                  <a:lnTo>
                    <a:pt x="69108" y="389666"/>
                  </a:lnTo>
                  <a:cubicBezTo>
                    <a:pt x="50779" y="389666"/>
                    <a:pt x="33202" y="382385"/>
                    <a:pt x="20241" y="369424"/>
                  </a:cubicBezTo>
                  <a:cubicBezTo>
                    <a:pt x="7281" y="356464"/>
                    <a:pt x="0" y="338886"/>
                    <a:pt x="0" y="320558"/>
                  </a:cubicBezTo>
                  <a:lnTo>
                    <a:pt x="0" y="69108"/>
                  </a:lnTo>
                  <a:cubicBezTo>
                    <a:pt x="0" y="50779"/>
                    <a:pt x="7281" y="33202"/>
                    <a:pt x="20241" y="20241"/>
                  </a:cubicBezTo>
                  <a:cubicBezTo>
                    <a:pt x="33202" y="7281"/>
                    <a:pt x="50779" y="0"/>
                    <a:pt x="69108" y="0"/>
                  </a:cubicBezTo>
                  <a:close/>
                </a:path>
              </a:pathLst>
            </a:custGeom>
            <a:solidFill>
              <a:srgbClr val="F9F9F9"/>
            </a:solidFill>
            <a:ln w="9525" cap="rnd">
              <a:solidFill>
                <a:srgbClr val="F2FFF2"/>
              </a:solidFill>
              <a:prstDash val="solid"/>
              <a:round/>
            </a:ln>
          </p:spPr>
        </p:sp>
        <p:sp>
          <p:nvSpPr>
            <p:cNvPr name="TextBox 15" id="15"/>
            <p:cNvSpPr txBox="true"/>
            <p:nvPr/>
          </p:nvSpPr>
          <p:spPr>
            <a:xfrm>
              <a:off x="0" y="-38100"/>
              <a:ext cx="909341" cy="42776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381514" y="1689575"/>
            <a:ext cx="1846255" cy="2163278"/>
            <a:chOff x="0" y="0"/>
            <a:chExt cx="636131" cy="745363"/>
          </a:xfrm>
        </p:grpSpPr>
        <p:sp>
          <p:nvSpPr>
            <p:cNvPr name="Freeform 17" id="17"/>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4"/>
              <a:stretch>
                <a:fillRect l="0" t="-55" r="0" b="-55"/>
              </a:stretch>
            </a:blipFill>
            <a:ln w="9525" cap="rnd">
              <a:solidFill>
                <a:srgbClr val="F9F9F9"/>
              </a:solidFill>
              <a:prstDash val="solid"/>
              <a:round/>
            </a:ln>
          </p:spPr>
        </p:sp>
      </p:grpSp>
      <p:grpSp>
        <p:nvGrpSpPr>
          <p:cNvPr name="Group 18" id="18"/>
          <p:cNvGrpSpPr/>
          <p:nvPr/>
        </p:nvGrpSpPr>
        <p:grpSpPr>
          <a:xfrm rot="0">
            <a:off x="3807684" y="4497157"/>
            <a:ext cx="1846255" cy="2163278"/>
            <a:chOff x="0" y="0"/>
            <a:chExt cx="636131" cy="745363"/>
          </a:xfrm>
        </p:grpSpPr>
        <p:sp>
          <p:nvSpPr>
            <p:cNvPr name="Freeform 19" id="19"/>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5"/>
              <a:stretch>
                <a:fillRect l="0" t="-55" r="0" b="-55"/>
              </a:stretch>
            </a:blipFill>
            <a:ln w="9525" cap="rnd">
              <a:solidFill>
                <a:srgbClr val="F9F9F9"/>
              </a:solidFill>
              <a:prstDash val="solid"/>
              <a:round/>
            </a:ln>
          </p:spPr>
        </p:sp>
      </p:grpSp>
      <p:grpSp>
        <p:nvGrpSpPr>
          <p:cNvPr name="Group 20" id="20"/>
          <p:cNvGrpSpPr/>
          <p:nvPr/>
        </p:nvGrpSpPr>
        <p:grpSpPr>
          <a:xfrm rot="0">
            <a:off x="1381514" y="7452721"/>
            <a:ext cx="1846255" cy="2163278"/>
            <a:chOff x="0" y="0"/>
            <a:chExt cx="636131" cy="745363"/>
          </a:xfrm>
        </p:grpSpPr>
        <p:sp>
          <p:nvSpPr>
            <p:cNvPr name="Freeform 21" id="21"/>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6"/>
              <a:stretch>
                <a:fillRect l="0" t="-55" r="0" b="-55"/>
              </a:stretch>
            </a:blipFill>
            <a:ln w="9525" cap="rnd">
              <a:solidFill>
                <a:srgbClr val="F9F9F9"/>
              </a:solidFill>
              <a:prstDash val="solid"/>
              <a:round/>
            </a:ln>
          </p:spPr>
        </p:sp>
      </p:grpSp>
      <p:sp>
        <p:nvSpPr>
          <p:cNvPr name="TextBox 22" id="22"/>
          <p:cNvSpPr txBox="true"/>
          <p:nvPr/>
        </p:nvSpPr>
        <p:spPr>
          <a:xfrm rot="0">
            <a:off x="4100458" y="2143509"/>
            <a:ext cx="3029636" cy="532121"/>
          </a:xfrm>
          <a:prstGeom prst="rect">
            <a:avLst/>
          </a:prstGeom>
        </p:spPr>
        <p:txBody>
          <a:bodyPr anchor="t" rtlCol="false" tIns="0" lIns="0" bIns="0" rIns="0">
            <a:spAutoFit/>
          </a:bodyPr>
          <a:lstStyle/>
          <a:p>
            <a:pPr algn="l" marL="0" indent="0" lvl="0">
              <a:lnSpc>
                <a:spcPts val="4298"/>
              </a:lnSpc>
            </a:pPr>
            <a:r>
              <a:rPr lang="en-US" sz="3070" spc="-227">
                <a:solidFill>
                  <a:srgbClr val="F9F9F9"/>
                </a:solidFill>
                <a:latin typeface="Public Sans"/>
                <a:ea typeface="Public Sans"/>
                <a:cs typeface="Public Sans"/>
                <a:sym typeface="Public Sans"/>
              </a:rPr>
              <a:t>LRP Attribution</a:t>
            </a:r>
          </a:p>
        </p:txBody>
      </p:sp>
      <p:sp>
        <p:nvSpPr>
          <p:cNvPr name="TextBox 23" id="23"/>
          <p:cNvSpPr txBox="true"/>
          <p:nvPr/>
        </p:nvSpPr>
        <p:spPr>
          <a:xfrm rot="0">
            <a:off x="6390936" y="4958162"/>
            <a:ext cx="3029636" cy="532121"/>
          </a:xfrm>
          <a:prstGeom prst="rect">
            <a:avLst/>
          </a:prstGeom>
        </p:spPr>
        <p:txBody>
          <a:bodyPr anchor="t" rtlCol="false" tIns="0" lIns="0" bIns="0" rIns="0">
            <a:spAutoFit/>
          </a:bodyPr>
          <a:lstStyle/>
          <a:p>
            <a:pPr algn="l" marL="0" indent="0" lvl="0">
              <a:lnSpc>
                <a:spcPts val="4298"/>
              </a:lnSpc>
            </a:pPr>
            <a:r>
              <a:rPr lang="en-US" sz="3070" spc="-227">
                <a:solidFill>
                  <a:srgbClr val="000000"/>
                </a:solidFill>
                <a:latin typeface="Public Sans"/>
                <a:ea typeface="Public Sans"/>
                <a:cs typeface="Public Sans"/>
                <a:sym typeface="Public Sans"/>
              </a:rPr>
              <a:t>Gradient Hooks</a:t>
            </a:r>
          </a:p>
        </p:txBody>
      </p:sp>
      <p:sp>
        <p:nvSpPr>
          <p:cNvPr name="TextBox 24" id="24"/>
          <p:cNvSpPr txBox="true"/>
          <p:nvPr/>
        </p:nvSpPr>
        <p:spPr>
          <a:xfrm rot="0">
            <a:off x="4100458" y="2694893"/>
            <a:ext cx="2520710" cy="354507"/>
          </a:xfrm>
          <a:prstGeom prst="rect">
            <a:avLst/>
          </a:prstGeom>
        </p:spPr>
        <p:txBody>
          <a:bodyPr anchor="t" rtlCol="false" tIns="0" lIns="0" bIns="0" rIns="0">
            <a:spAutoFit/>
          </a:bodyPr>
          <a:lstStyle/>
          <a:p>
            <a:pPr algn="l" marL="0" indent="0" lvl="0">
              <a:lnSpc>
                <a:spcPts val="2831"/>
              </a:lnSpc>
            </a:pPr>
            <a:r>
              <a:rPr lang="en-US" sz="2022" spc="-149">
                <a:solidFill>
                  <a:srgbClr val="F9F9F9"/>
                </a:solidFill>
                <a:latin typeface="Public Sans"/>
                <a:ea typeface="Public Sans"/>
                <a:cs typeface="Public Sans"/>
                <a:sym typeface="Public Sans"/>
              </a:rPr>
              <a:t>Spatial Heatmaps</a:t>
            </a:r>
          </a:p>
        </p:txBody>
      </p:sp>
      <p:sp>
        <p:nvSpPr>
          <p:cNvPr name="TextBox 25" id="25"/>
          <p:cNvSpPr txBox="true"/>
          <p:nvPr/>
        </p:nvSpPr>
        <p:spPr>
          <a:xfrm rot="0">
            <a:off x="6390936" y="5519945"/>
            <a:ext cx="2520710" cy="354507"/>
          </a:xfrm>
          <a:prstGeom prst="rect">
            <a:avLst/>
          </a:prstGeom>
        </p:spPr>
        <p:txBody>
          <a:bodyPr anchor="t" rtlCol="false" tIns="0" lIns="0" bIns="0" rIns="0">
            <a:spAutoFit/>
          </a:bodyPr>
          <a:lstStyle/>
          <a:p>
            <a:pPr algn="l" marL="0" indent="0" lvl="0">
              <a:lnSpc>
                <a:spcPts val="2831"/>
              </a:lnSpc>
            </a:pPr>
            <a:r>
              <a:rPr lang="en-US" sz="2022" spc="-149">
                <a:solidFill>
                  <a:srgbClr val="000000"/>
                </a:solidFill>
                <a:latin typeface="Public Sans"/>
                <a:ea typeface="Public Sans"/>
                <a:cs typeface="Public Sans"/>
                <a:sym typeface="Public Sans"/>
              </a:rPr>
              <a:t>Temporal Heatmaps</a:t>
            </a:r>
          </a:p>
        </p:txBody>
      </p:sp>
      <p:sp>
        <p:nvSpPr>
          <p:cNvPr name="TextBox 26" id="26"/>
          <p:cNvSpPr txBox="true"/>
          <p:nvPr/>
        </p:nvSpPr>
        <p:spPr>
          <a:xfrm rot="0">
            <a:off x="4100458" y="3003345"/>
            <a:ext cx="2217449" cy="293988"/>
          </a:xfrm>
          <a:prstGeom prst="rect">
            <a:avLst/>
          </a:prstGeom>
        </p:spPr>
        <p:txBody>
          <a:bodyPr anchor="t" rtlCol="false" tIns="0" lIns="0" bIns="0" rIns="0">
            <a:spAutoFit/>
          </a:bodyPr>
          <a:lstStyle/>
          <a:p>
            <a:pPr algn="l" marL="0" indent="0" lvl="0">
              <a:lnSpc>
                <a:spcPts val="2309"/>
              </a:lnSpc>
            </a:pPr>
            <a:r>
              <a:rPr lang="en-US" sz="1649" spc="-122">
                <a:solidFill>
                  <a:srgbClr val="F9F9F9"/>
                </a:solidFill>
                <a:latin typeface="Public Sans"/>
                <a:ea typeface="Public Sans"/>
                <a:cs typeface="Public Sans"/>
                <a:sym typeface="Public Sans"/>
              </a:rPr>
              <a:t>Interpretability Method</a:t>
            </a:r>
          </a:p>
        </p:txBody>
      </p:sp>
      <p:sp>
        <p:nvSpPr>
          <p:cNvPr name="TextBox 27" id="27"/>
          <p:cNvSpPr txBox="true"/>
          <p:nvPr/>
        </p:nvSpPr>
        <p:spPr>
          <a:xfrm rot="0">
            <a:off x="6390936" y="5828398"/>
            <a:ext cx="2217449" cy="293988"/>
          </a:xfrm>
          <a:prstGeom prst="rect">
            <a:avLst/>
          </a:prstGeom>
        </p:spPr>
        <p:txBody>
          <a:bodyPr anchor="t" rtlCol="false" tIns="0" lIns="0" bIns="0" rIns="0">
            <a:spAutoFit/>
          </a:bodyPr>
          <a:lstStyle/>
          <a:p>
            <a:pPr algn="l" marL="0" indent="0" lvl="0">
              <a:lnSpc>
                <a:spcPts val="2309"/>
              </a:lnSpc>
            </a:pPr>
            <a:r>
              <a:rPr lang="en-US" sz="1649" spc="-122">
                <a:solidFill>
                  <a:srgbClr val="000000"/>
                </a:solidFill>
                <a:latin typeface="Public Sans"/>
                <a:ea typeface="Public Sans"/>
                <a:cs typeface="Public Sans"/>
                <a:sym typeface="Public Sans"/>
              </a:rPr>
              <a:t>Forward &amp; Backward Pass</a:t>
            </a:r>
          </a:p>
        </p:txBody>
      </p:sp>
      <p:sp>
        <p:nvSpPr>
          <p:cNvPr name="TextBox 28" id="28"/>
          <p:cNvSpPr txBox="true"/>
          <p:nvPr/>
        </p:nvSpPr>
        <p:spPr>
          <a:xfrm rot="0">
            <a:off x="4100458" y="7941596"/>
            <a:ext cx="3029636" cy="532121"/>
          </a:xfrm>
          <a:prstGeom prst="rect">
            <a:avLst/>
          </a:prstGeom>
        </p:spPr>
        <p:txBody>
          <a:bodyPr anchor="t" rtlCol="false" tIns="0" lIns="0" bIns="0" rIns="0">
            <a:spAutoFit/>
          </a:bodyPr>
          <a:lstStyle/>
          <a:p>
            <a:pPr algn="l" marL="0" indent="0" lvl="0">
              <a:lnSpc>
                <a:spcPts val="4298"/>
              </a:lnSpc>
            </a:pPr>
            <a:r>
              <a:rPr lang="en-US" sz="3070" spc="-227">
                <a:solidFill>
                  <a:srgbClr val="F9F9F9"/>
                </a:solidFill>
                <a:latin typeface="Public Sans"/>
                <a:ea typeface="Public Sans"/>
                <a:cs typeface="Public Sans"/>
                <a:sym typeface="Public Sans"/>
              </a:rPr>
              <a:t>End-to-End Verified</a:t>
            </a:r>
          </a:p>
        </p:txBody>
      </p:sp>
      <p:sp>
        <p:nvSpPr>
          <p:cNvPr name="TextBox 29" id="29"/>
          <p:cNvSpPr txBox="true"/>
          <p:nvPr/>
        </p:nvSpPr>
        <p:spPr>
          <a:xfrm rot="0">
            <a:off x="4100458" y="8492981"/>
            <a:ext cx="2520710" cy="354507"/>
          </a:xfrm>
          <a:prstGeom prst="rect">
            <a:avLst/>
          </a:prstGeom>
        </p:spPr>
        <p:txBody>
          <a:bodyPr anchor="t" rtlCol="false" tIns="0" lIns="0" bIns="0" rIns="0">
            <a:spAutoFit/>
          </a:bodyPr>
          <a:lstStyle/>
          <a:p>
            <a:pPr algn="l" marL="0" indent="0" lvl="0">
              <a:lnSpc>
                <a:spcPts val="2831"/>
              </a:lnSpc>
            </a:pPr>
            <a:r>
              <a:rPr lang="en-US" sz="2022" spc="-149">
                <a:solidFill>
                  <a:srgbClr val="F9F9F9"/>
                </a:solidFill>
                <a:latin typeface="Public Sans"/>
                <a:ea typeface="Public Sans"/>
                <a:cs typeface="Public Sans"/>
                <a:sym typeface="Public Sans"/>
              </a:rPr>
              <a:t>Real Test Sequences</a:t>
            </a:r>
          </a:p>
        </p:txBody>
      </p:sp>
      <p:sp>
        <p:nvSpPr>
          <p:cNvPr name="TextBox 30" id="30"/>
          <p:cNvSpPr txBox="true"/>
          <p:nvPr/>
        </p:nvSpPr>
        <p:spPr>
          <a:xfrm rot="0">
            <a:off x="4100458" y="8801433"/>
            <a:ext cx="2217449" cy="293988"/>
          </a:xfrm>
          <a:prstGeom prst="rect">
            <a:avLst/>
          </a:prstGeom>
        </p:spPr>
        <p:txBody>
          <a:bodyPr anchor="t" rtlCol="false" tIns="0" lIns="0" bIns="0" rIns="0">
            <a:spAutoFit/>
          </a:bodyPr>
          <a:lstStyle/>
          <a:p>
            <a:pPr algn="l" marL="0" indent="0" lvl="0">
              <a:lnSpc>
                <a:spcPts val="2309"/>
              </a:lnSpc>
            </a:pPr>
            <a:r>
              <a:rPr lang="en-US" sz="1649" spc="-122">
                <a:solidFill>
                  <a:srgbClr val="F9F9F9"/>
                </a:solidFill>
                <a:latin typeface="Public Sans"/>
                <a:ea typeface="Public Sans"/>
                <a:cs typeface="Public Sans"/>
                <a:sym typeface="Public Sans"/>
              </a:rPr>
              <a:t>Beyond Simulated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028700" y="1028700"/>
            <a:ext cx="12518964" cy="3188105"/>
          </a:xfrm>
          <a:custGeom>
            <a:avLst/>
            <a:gdLst/>
            <a:ahLst/>
            <a:cxnLst/>
            <a:rect r="r" b="b" t="t" l="l"/>
            <a:pathLst>
              <a:path h="3188105" w="12518964">
                <a:moveTo>
                  <a:pt x="0" y="0"/>
                </a:moveTo>
                <a:lnTo>
                  <a:pt x="12518964" y="0"/>
                </a:lnTo>
                <a:lnTo>
                  <a:pt x="12518964" y="3188105"/>
                </a:lnTo>
                <a:lnTo>
                  <a:pt x="0" y="3188105"/>
                </a:lnTo>
                <a:lnTo>
                  <a:pt x="0" y="0"/>
                </a:lnTo>
                <a:close/>
              </a:path>
            </a:pathLst>
          </a:custGeom>
          <a:blipFill>
            <a:blip r:embed="rId3">
              <a:alphaModFix amt="70000"/>
            </a:blip>
            <a:stretch>
              <a:fillRect l="-84370" t="-61575" r="-51778" b="-457186"/>
            </a:stretch>
          </a:blipFill>
        </p:spPr>
      </p:sp>
      <p:sp>
        <p:nvSpPr>
          <p:cNvPr name="TextBox 4" id="4"/>
          <p:cNvSpPr txBox="true"/>
          <p:nvPr/>
        </p:nvSpPr>
        <p:spPr>
          <a:xfrm rot="0">
            <a:off x="1509613" y="1381125"/>
            <a:ext cx="12312515" cy="1470724"/>
          </a:xfrm>
          <a:prstGeom prst="rect">
            <a:avLst/>
          </a:prstGeom>
        </p:spPr>
        <p:txBody>
          <a:bodyPr anchor="t" rtlCol="false" tIns="0" lIns="0" bIns="0" rIns="0">
            <a:spAutoFit/>
          </a:bodyPr>
          <a:lstStyle/>
          <a:p>
            <a:pPr algn="l" marL="0" indent="0" lvl="0">
              <a:lnSpc>
                <a:spcPts val="10823"/>
              </a:lnSpc>
            </a:pPr>
            <a:r>
              <a:rPr lang="en-US" sz="12026" spc="-721">
                <a:solidFill>
                  <a:srgbClr val="FFFFFF"/>
                </a:solidFill>
                <a:latin typeface="TT Interphases"/>
                <a:ea typeface="TT Interphases"/>
                <a:cs typeface="TT Interphases"/>
                <a:sym typeface="TT Interphases"/>
              </a:rPr>
              <a:t>DATASET</a:t>
            </a:r>
          </a:p>
        </p:txBody>
      </p:sp>
      <p:grpSp>
        <p:nvGrpSpPr>
          <p:cNvPr name="Group 5" id="5"/>
          <p:cNvGrpSpPr/>
          <p:nvPr/>
        </p:nvGrpSpPr>
        <p:grpSpPr>
          <a:xfrm rot="0">
            <a:off x="11098007" y="3426361"/>
            <a:ext cx="5448243" cy="5831939"/>
            <a:chOff x="0" y="0"/>
            <a:chExt cx="844075" cy="903520"/>
          </a:xfrm>
        </p:grpSpPr>
        <p:sp>
          <p:nvSpPr>
            <p:cNvPr name="Freeform 6" id="6"/>
            <p:cNvSpPr/>
            <p:nvPr/>
          </p:nvSpPr>
          <p:spPr>
            <a:xfrm flipH="false" flipV="false" rot="0">
              <a:off x="0" y="0"/>
              <a:ext cx="844075" cy="903520"/>
            </a:xfrm>
            <a:custGeom>
              <a:avLst/>
              <a:gdLst/>
              <a:ahLst/>
              <a:cxnLst/>
              <a:rect r="r" b="b" t="t" l="l"/>
              <a:pathLst>
                <a:path h="903520" w="844075">
                  <a:moveTo>
                    <a:pt x="21315" y="0"/>
                  </a:moveTo>
                  <a:lnTo>
                    <a:pt x="822761" y="0"/>
                  </a:lnTo>
                  <a:cubicBezTo>
                    <a:pt x="828414" y="0"/>
                    <a:pt x="833835" y="2246"/>
                    <a:pt x="837832" y="6243"/>
                  </a:cubicBezTo>
                  <a:cubicBezTo>
                    <a:pt x="841830" y="10240"/>
                    <a:pt x="844075" y="15662"/>
                    <a:pt x="844075" y="21315"/>
                  </a:cubicBezTo>
                  <a:lnTo>
                    <a:pt x="844075" y="882205"/>
                  </a:lnTo>
                  <a:cubicBezTo>
                    <a:pt x="844075" y="893977"/>
                    <a:pt x="834532" y="903520"/>
                    <a:pt x="822761" y="903520"/>
                  </a:cubicBezTo>
                  <a:lnTo>
                    <a:pt x="21315" y="903520"/>
                  </a:lnTo>
                  <a:cubicBezTo>
                    <a:pt x="9543" y="903520"/>
                    <a:pt x="0" y="893977"/>
                    <a:pt x="0" y="882205"/>
                  </a:cubicBezTo>
                  <a:lnTo>
                    <a:pt x="0" y="21315"/>
                  </a:lnTo>
                  <a:cubicBezTo>
                    <a:pt x="0" y="9543"/>
                    <a:pt x="9543" y="0"/>
                    <a:pt x="21315" y="0"/>
                  </a:cubicBezTo>
                  <a:close/>
                </a:path>
              </a:pathLst>
            </a:custGeom>
            <a:blipFill>
              <a:blip r:embed="rId4"/>
              <a:stretch>
                <a:fillRect l="0" t="-24" r="0" b="-24"/>
              </a:stretch>
            </a:blipFill>
            <a:ln w="9525" cap="sq">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miter/>
            </a:ln>
          </p:spPr>
        </p:sp>
      </p:grpSp>
      <p:sp>
        <p:nvSpPr>
          <p:cNvPr name="TextBox 7" id="7"/>
          <p:cNvSpPr txBox="true"/>
          <p:nvPr/>
        </p:nvSpPr>
        <p:spPr>
          <a:xfrm rot="0">
            <a:off x="2322966" y="4595667"/>
            <a:ext cx="8333124" cy="1563370"/>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FaceForensics++ (Cropped Faces) sourced from Kaggle. Contains 1,000 real and 1,000 fake video folders with 20 pre-aligned, cropped face frames per video. A total of 9,980 sequences were extracted using sliding 4-frame windows for temporal modeling.</a:t>
            </a:r>
          </a:p>
        </p:txBody>
      </p:sp>
      <p:sp>
        <p:nvSpPr>
          <p:cNvPr name="TextBox 8" id="8"/>
          <p:cNvSpPr txBox="true"/>
          <p:nvPr/>
        </p:nvSpPr>
        <p:spPr>
          <a:xfrm rot="0">
            <a:off x="2322966" y="6974679"/>
            <a:ext cx="8333124" cy="1563370"/>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Dataset split performed at the video level to prevent data leakage between train, validation, and test sets. This ensures no frames from the same video appear across splits, providing a rigorous and unbiased evaluation of detection performance.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552442" y="1155532"/>
            <a:ext cx="9173078" cy="1955360"/>
          </a:xfrm>
          <a:custGeom>
            <a:avLst/>
            <a:gdLst/>
            <a:ahLst/>
            <a:cxnLst/>
            <a:rect r="r" b="b" t="t" l="l"/>
            <a:pathLst>
              <a:path h="1955360" w="9173078">
                <a:moveTo>
                  <a:pt x="0" y="0"/>
                </a:moveTo>
                <a:lnTo>
                  <a:pt x="9173079" y="0"/>
                </a:lnTo>
                <a:lnTo>
                  <a:pt x="9173079" y="1955360"/>
                </a:lnTo>
                <a:lnTo>
                  <a:pt x="0" y="1955360"/>
                </a:lnTo>
                <a:lnTo>
                  <a:pt x="0" y="0"/>
                </a:lnTo>
                <a:close/>
              </a:path>
            </a:pathLst>
          </a:custGeom>
          <a:blipFill>
            <a:blip r:embed="rId3">
              <a:alphaModFix amt="70000"/>
            </a:blip>
            <a:stretch>
              <a:fillRect l="-128939" t="-100395" r="-93343" b="-808461"/>
            </a:stretch>
          </a:blipFill>
        </p:spPr>
      </p:sp>
      <p:sp>
        <p:nvSpPr>
          <p:cNvPr name="TextBox 4" id="4"/>
          <p:cNvSpPr txBox="true"/>
          <p:nvPr/>
        </p:nvSpPr>
        <p:spPr>
          <a:xfrm rot="0">
            <a:off x="1028700" y="1460207"/>
            <a:ext cx="10464523" cy="1512199"/>
          </a:xfrm>
          <a:prstGeom prst="rect">
            <a:avLst/>
          </a:prstGeom>
        </p:spPr>
        <p:txBody>
          <a:bodyPr anchor="t" rtlCol="false" tIns="0" lIns="0" bIns="0" rIns="0">
            <a:spAutoFit/>
          </a:bodyPr>
          <a:lstStyle/>
          <a:p>
            <a:pPr algn="l" marL="0" indent="0" lvl="0">
              <a:lnSpc>
                <a:spcPts val="5791"/>
              </a:lnSpc>
            </a:pPr>
            <a:r>
              <a:rPr lang="en-US" sz="6434" spc="-386">
                <a:solidFill>
                  <a:srgbClr val="FFFFFF"/>
                </a:solidFill>
                <a:latin typeface="TT Interphases"/>
                <a:ea typeface="TT Interphases"/>
                <a:cs typeface="TT Interphases"/>
                <a:sym typeface="TT Interphases"/>
              </a:rPr>
              <a:t>EXPERIMENTAL</a:t>
            </a:r>
          </a:p>
          <a:p>
            <a:pPr algn="l" marL="0" indent="0" lvl="0">
              <a:lnSpc>
                <a:spcPts val="5791"/>
              </a:lnSpc>
            </a:pPr>
            <a:r>
              <a:rPr lang="en-US" sz="6434" spc="-386">
                <a:solidFill>
                  <a:srgbClr val="FFFFFF"/>
                </a:solidFill>
                <a:latin typeface="TT Interphases"/>
                <a:ea typeface="TT Interphases"/>
                <a:cs typeface="TT Interphases"/>
                <a:sym typeface="TT Interphases"/>
              </a:rPr>
              <a:t>SETUP</a:t>
            </a:r>
          </a:p>
        </p:txBody>
      </p:sp>
      <p:grpSp>
        <p:nvGrpSpPr>
          <p:cNvPr name="Group 5" id="5"/>
          <p:cNvGrpSpPr/>
          <p:nvPr/>
        </p:nvGrpSpPr>
        <p:grpSpPr>
          <a:xfrm rot="0">
            <a:off x="10890612" y="1100926"/>
            <a:ext cx="6368688" cy="4989488"/>
            <a:chOff x="0" y="0"/>
            <a:chExt cx="957333" cy="750013"/>
          </a:xfrm>
        </p:grpSpPr>
        <p:sp>
          <p:nvSpPr>
            <p:cNvPr name="Freeform 6" id="6"/>
            <p:cNvSpPr/>
            <p:nvPr/>
          </p:nvSpPr>
          <p:spPr>
            <a:xfrm flipH="false" flipV="false" rot="0">
              <a:off x="0" y="0"/>
              <a:ext cx="957333" cy="750013"/>
            </a:xfrm>
            <a:custGeom>
              <a:avLst/>
              <a:gdLst/>
              <a:ahLst/>
              <a:cxnLst/>
              <a:rect r="r" b="b" t="t" l="l"/>
              <a:pathLst>
                <a:path h="750013" w="957333">
                  <a:moveTo>
                    <a:pt x="65644" y="0"/>
                  </a:moveTo>
                  <a:lnTo>
                    <a:pt x="891689" y="0"/>
                  </a:lnTo>
                  <a:cubicBezTo>
                    <a:pt x="909099" y="0"/>
                    <a:pt x="925796" y="6916"/>
                    <a:pt x="938106" y="19227"/>
                  </a:cubicBezTo>
                  <a:cubicBezTo>
                    <a:pt x="950417" y="31537"/>
                    <a:pt x="957333" y="48234"/>
                    <a:pt x="957333" y="65644"/>
                  </a:cubicBezTo>
                  <a:lnTo>
                    <a:pt x="957333" y="684370"/>
                  </a:lnTo>
                  <a:cubicBezTo>
                    <a:pt x="957333" y="701779"/>
                    <a:pt x="950417" y="718476"/>
                    <a:pt x="938106" y="730787"/>
                  </a:cubicBezTo>
                  <a:cubicBezTo>
                    <a:pt x="925796" y="743097"/>
                    <a:pt x="909099" y="750013"/>
                    <a:pt x="891689" y="750013"/>
                  </a:cubicBezTo>
                  <a:lnTo>
                    <a:pt x="65644" y="750013"/>
                  </a:lnTo>
                  <a:cubicBezTo>
                    <a:pt x="48234" y="750013"/>
                    <a:pt x="31537" y="743097"/>
                    <a:pt x="19227" y="730787"/>
                  </a:cubicBezTo>
                  <a:cubicBezTo>
                    <a:pt x="6916" y="718476"/>
                    <a:pt x="0" y="701779"/>
                    <a:pt x="0" y="684370"/>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7" id="7"/>
            <p:cNvSpPr txBox="true"/>
            <p:nvPr/>
          </p:nvSpPr>
          <p:spPr>
            <a:xfrm>
              <a:off x="0" y="-38100"/>
              <a:ext cx="957333" cy="78811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890612" y="6802198"/>
            <a:ext cx="6368688" cy="3484802"/>
            <a:chOff x="0" y="0"/>
            <a:chExt cx="957333" cy="523831"/>
          </a:xfrm>
        </p:grpSpPr>
        <p:sp>
          <p:nvSpPr>
            <p:cNvPr name="Freeform 9" id="9"/>
            <p:cNvSpPr/>
            <p:nvPr/>
          </p:nvSpPr>
          <p:spPr>
            <a:xfrm flipH="false" flipV="false" rot="0">
              <a:off x="0" y="0"/>
              <a:ext cx="957333" cy="523831"/>
            </a:xfrm>
            <a:custGeom>
              <a:avLst/>
              <a:gdLst/>
              <a:ahLst/>
              <a:cxnLst/>
              <a:rect r="r" b="b" t="t" l="l"/>
              <a:pathLst>
                <a:path h="523831" w="957333">
                  <a:moveTo>
                    <a:pt x="65644" y="0"/>
                  </a:moveTo>
                  <a:lnTo>
                    <a:pt x="891689" y="0"/>
                  </a:lnTo>
                  <a:cubicBezTo>
                    <a:pt x="909099" y="0"/>
                    <a:pt x="925796" y="6916"/>
                    <a:pt x="938106" y="19227"/>
                  </a:cubicBezTo>
                  <a:cubicBezTo>
                    <a:pt x="950417" y="31537"/>
                    <a:pt x="957333" y="48234"/>
                    <a:pt x="957333" y="65644"/>
                  </a:cubicBezTo>
                  <a:lnTo>
                    <a:pt x="957333" y="458187"/>
                  </a:lnTo>
                  <a:cubicBezTo>
                    <a:pt x="957333" y="475597"/>
                    <a:pt x="950417" y="492294"/>
                    <a:pt x="938106" y="504604"/>
                  </a:cubicBezTo>
                  <a:cubicBezTo>
                    <a:pt x="925796" y="516915"/>
                    <a:pt x="909099" y="523831"/>
                    <a:pt x="891689" y="523831"/>
                  </a:cubicBezTo>
                  <a:lnTo>
                    <a:pt x="65644" y="523831"/>
                  </a:lnTo>
                  <a:cubicBezTo>
                    <a:pt x="48234" y="523831"/>
                    <a:pt x="31537" y="516915"/>
                    <a:pt x="19227" y="504604"/>
                  </a:cubicBezTo>
                  <a:cubicBezTo>
                    <a:pt x="6916" y="492294"/>
                    <a:pt x="0" y="475597"/>
                    <a:pt x="0" y="458187"/>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10" id="10"/>
            <p:cNvSpPr txBox="true"/>
            <p:nvPr/>
          </p:nvSpPr>
          <p:spPr>
            <a:xfrm>
              <a:off x="0" y="-38100"/>
              <a:ext cx="957333" cy="56193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8922632" y="3905135"/>
            <a:ext cx="6049421" cy="2592263"/>
            <a:chOff x="0" y="0"/>
            <a:chExt cx="909341" cy="389666"/>
          </a:xfrm>
        </p:grpSpPr>
        <p:sp>
          <p:nvSpPr>
            <p:cNvPr name="Freeform 12" id="12"/>
            <p:cNvSpPr/>
            <p:nvPr/>
          </p:nvSpPr>
          <p:spPr>
            <a:xfrm flipH="false" flipV="false" rot="0">
              <a:off x="0" y="0"/>
              <a:ext cx="909341" cy="389666"/>
            </a:xfrm>
            <a:custGeom>
              <a:avLst/>
              <a:gdLst/>
              <a:ahLst/>
              <a:cxnLst/>
              <a:rect r="r" b="b" t="t" l="l"/>
              <a:pathLst>
                <a:path h="389666" w="909341">
                  <a:moveTo>
                    <a:pt x="69108" y="0"/>
                  </a:moveTo>
                  <a:lnTo>
                    <a:pt x="840233" y="0"/>
                  </a:lnTo>
                  <a:cubicBezTo>
                    <a:pt x="878400" y="0"/>
                    <a:pt x="909341" y="30941"/>
                    <a:pt x="909341" y="69108"/>
                  </a:cubicBezTo>
                  <a:lnTo>
                    <a:pt x="909341" y="320558"/>
                  </a:lnTo>
                  <a:cubicBezTo>
                    <a:pt x="909341" y="338886"/>
                    <a:pt x="902060" y="356464"/>
                    <a:pt x="889100" y="369424"/>
                  </a:cubicBezTo>
                  <a:cubicBezTo>
                    <a:pt x="876140" y="382385"/>
                    <a:pt x="858562" y="389666"/>
                    <a:pt x="840233" y="389666"/>
                  </a:cubicBezTo>
                  <a:lnTo>
                    <a:pt x="69108" y="389666"/>
                  </a:lnTo>
                  <a:cubicBezTo>
                    <a:pt x="50779" y="389666"/>
                    <a:pt x="33202" y="382385"/>
                    <a:pt x="20241" y="369424"/>
                  </a:cubicBezTo>
                  <a:cubicBezTo>
                    <a:pt x="7281" y="356464"/>
                    <a:pt x="0" y="338886"/>
                    <a:pt x="0" y="320558"/>
                  </a:cubicBezTo>
                  <a:lnTo>
                    <a:pt x="0" y="69108"/>
                  </a:lnTo>
                  <a:cubicBezTo>
                    <a:pt x="0" y="50779"/>
                    <a:pt x="7281" y="33202"/>
                    <a:pt x="20241" y="20241"/>
                  </a:cubicBezTo>
                  <a:cubicBezTo>
                    <a:pt x="33202" y="7281"/>
                    <a:pt x="50779" y="0"/>
                    <a:pt x="69108" y="0"/>
                  </a:cubicBezTo>
                  <a:close/>
                </a:path>
              </a:pathLst>
            </a:custGeom>
            <a:solidFill>
              <a:srgbClr val="F9F9F9"/>
            </a:solidFill>
            <a:ln w="9525" cap="rnd">
              <a:solidFill>
                <a:srgbClr val="F2FFF2"/>
              </a:solidFill>
              <a:prstDash val="solid"/>
              <a:round/>
            </a:ln>
          </p:spPr>
        </p:sp>
        <p:sp>
          <p:nvSpPr>
            <p:cNvPr name="TextBox 13" id="13"/>
            <p:cNvSpPr txBox="true"/>
            <p:nvPr/>
          </p:nvSpPr>
          <p:spPr>
            <a:xfrm>
              <a:off x="0" y="-38100"/>
              <a:ext cx="909341" cy="42776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1144385" y="1300173"/>
            <a:ext cx="1846255" cy="2163278"/>
            <a:chOff x="0" y="0"/>
            <a:chExt cx="636131" cy="745363"/>
          </a:xfrm>
        </p:grpSpPr>
        <p:sp>
          <p:nvSpPr>
            <p:cNvPr name="Freeform 15" id="15"/>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4"/>
              <a:stretch>
                <a:fillRect l="0" t="-55" r="0" b="-55"/>
              </a:stretch>
            </a:blipFill>
            <a:ln w="9525" cap="rnd">
              <a:solidFill>
                <a:srgbClr val="F9F9F9"/>
              </a:solidFill>
              <a:prstDash val="solid"/>
              <a:round/>
            </a:ln>
          </p:spPr>
        </p:sp>
      </p:grpSp>
      <p:grpSp>
        <p:nvGrpSpPr>
          <p:cNvPr name="Group 16" id="16"/>
          <p:cNvGrpSpPr/>
          <p:nvPr/>
        </p:nvGrpSpPr>
        <p:grpSpPr>
          <a:xfrm rot="0">
            <a:off x="9133859" y="4107755"/>
            <a:ext cx="1846255" cy="2163278"/>
            <a:chOff x="0" y="0"/>
            <a:chExt cx="636131" cy="745363"/>
          </a:xfrm>
        </p:grpSpPr>
        <p:sp>
          <p:nvSpPr>
            <p:cNvPr name="Freeform 17" id="17"/>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5"/>
              <a:stretch>
                <a:fillRect l="0" t="-55" r="0" b="-55"/>
              </a:stretch>
            </a:blipFill>
            <a:ln w="9525" cap="rnd">
              <a:solidFill>
                <a:srgbClr val="F9F9F9"/>
              </a:solidFill>
              <a:prstDash val="solid"/>
              <a:round/>
            </a:ln>
          </p:spPr>
        </p:sp>
      </p:grpSp>
      <p:grpSp>
        <p:nvGrpSpPr>
          <p:cNvPr name="Group 18" id="18"/>
          <p:cNvGrpSpPr/>
          <p:nvPr/>
        </p:nvGrpSpPr>
        <p:grpSpPr>
          <a:xfrm rot="0">
            <a:off x="11144385" y="7063319"/>
            <a:ext cx="1846255" cy="2163278"/>
            <a:chOff x="0" y="0"/>
            <a:chExt cx="636131" cy="745363"/>
          </a:xfrm>
        </p:grpSpPr>
        <p:sp>
          <p:nvSpPr>
            <p:cNvPr name="Freeform 19" id="19"/>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6"/>
              <a:stretch>
                <a:fillRect l="0" t="-55" r="0" b="-55"/>
              </a:stretch>
            </a:blipFill>
            <a:ln w="9525" cap="rnd">
              <a:solidFill>
                <a:srgbClr val="F9F9F9"/>
              </a:solidFill>
              <a:prstDash val="solid"/>
              <a:round/>
            </a:ln>
          </p:spPr>
        </p:sp>
      </p:grpSp>
      <p:sp>
        <p:nvSpPr>
          <p:cNvPr name="TextBox 20" id="20"/>
          <p:cNvSpPr txBox="true"/>
          <p:nvPr/>
        </p:nvSpPr>
        <p:spPr>
          <a:xfrm rot="0">
            <a:off x="1028700" y="7282227"/>
            <a:ext cx="8333124" cy="1369234"/>
          </a:xfrm>
          <a:prstGeom prst="rect">
            <a:avLst/>
          </a:prstGeom>
        </p:spPr>
        <p:txBody>
          <a:bodyPr anchor="t" rtlCol="false" tIns="0" lIns="0" bIns="0" rIns="0">
            <a:spAutoFit/>
          </a:bodyPr>
          <a:lstStyle/>
          <a:p>
            <a:pPr algn="l" marL="0" indent="0" lvl="0">
              <a:lnSpc>
                <a:spcPts val="2755"/>
              </a:lnSpc>
            </a:pPr>
            <a:r>
              <a:rPr lang="en-US" sz="1968" i="true" spc="-123">
                <a:solidFill>
                  <a:srgbClr val="F9F9F9"/>
                </a:solidFill>
                <a:latin typeface="Public Sans Light Italics"/>
                <a:ea typeface="Public Sans Light Italics"/>
                <a:cs typeface="Public Sans Light Italics"/>
                <a:sym typeface="Public Sans Light Italics"/>
              </a:rPr>
              <a:t>Training was conducted on a single GPU under course-project constraints. The reduced-scale configuration keeps the model tractable while preserving the core ISTVT design. 35.5 million trainable parameters were optimized with SGD over 10 epochs, with input resolution fixed at 128×128 to fit within available memory.</a:t>
            </a:r>
          </a:p>
        </p:txBody>
      </p:sp>
      <p:sp>
        <p:nvSpPr>
          <p:cNvPr name="TextBox 21" id="21"/>
          <p:cNvSpPr txBox="true"/>
          <p:nvPr/>
        </p:nvSpPr>
        <p:spPr>
          <a:xfrm rot="0">
            <a:off x="13863329" y="1744582"/>
            <a:ext cx="3029636" cy="605824"/>
          </a:xfrm>
          <a:prstGeom prst="rect">
            <a:avLst/>
          </a:prstGeom>
        </p:spPr>
        <p:txBody>
          <a:bodyPr anchor="t" rtlCol="false" tIns="0" lIns="0" bIns="0" rIns="0">
            <a:spAutoFit/>
          </a:bodyPr>
          <a:lstStyle/>
          <a:p>
            <a:pPr algn="l" marL="0" indent="0" lvl="0">
              <a:lnSpc>
                <a:spcPts val="4886"/>
              </a:lnSpc>
            </a:pPr>
            <a:r>
              <a:rPr lang="en-US" sz="3490" spc="-258">
                <a:solidFill>
                  <a:srgbClr val="F9F9F9"/>
                </a:solidFill>
                <a:latin typeface="Public Sans"/>
                <a:ea typeface="Public Sans"/>
                <a:cs typeface="Public Sans"/>
                <a:sym typeface="Public Sans"/>
              </a:rPr>
              <a:t>Model Scale</a:t>
            </a:r>
          </a:p>
        </p:txBody>
      </p:sp>
      <p:sp>
        <p:nvSpPr>
          <p:cNvPr name="TextBox 22" id="22"/>
          <p:cNvSpPr txBox="true"/>
          <p:nvPr/>
        </p:nvSpPr>
        <p:spPr>
          <a:xfrm rot="0">
            <a:off x="11717111" y="4559235"/>
            <a:ext cx="3029636" cy="605824"/>
          </a:xfrm>
          <a:prstGeom prst="rect">
            <a:avLst/>
          </a:prstGeom>
        </p:spPr>
        <p:txBody>
          <a:bodyPr anchor="t" rtlCol="false" tIns="0" lIns="0" bIns="0" rIns="0">
            <a:spAutoFit/>
          </a:bodyPr>
          <a:lstStyle/>
          <a:p>
            <a:pPr algn="l" marL="0" indent="0" lvl="0">
              <a:lnSpc>
                <a:spcPts val="4886"/>
              </a:lnSpc>
            </a:pPr>
            <a:r>
              <a:rPr lang="en-US" sz="3490" spc="-258">
                <a:solidFill>
                  <a:srgbClr val="000000"/>
                </a:solidFill>
                <a:latin typeface="Public Sans"/>
                <a:ea typeface="Public Sans"/>
                <a:cs typeface="Public Sans"/>
                <a:sym typeface="Public Sans"/>
              </a:rPr>
              <a:t>Training</a:t>
            </a:r>
          </a:p>
        </p:txBody>
      </p:sp>
      <p:sp>
        <p:nvSpPr>
          <p:cNvPr name="TextBox 23" id="23"/>
          <p:cNvSpPr txBox="true"/>
          <p:nvPr/>
        </p:nvSpPr>
        <p:spPr>
          <a:xfrm rot="0">
            <a:off x="13863329" y="2315016"/>
            <a:ext cx="2520710" cy="313413"/>
          </a:xfrm>
          <a:prstGeom prst="rect">
            <a:avLst/>
          </a:prstGeom>
        </p:spPr>
        <p:txBody>
          <a:bodyPr anchor="t" rtlCol="false" tIns="0" lIns="0" bIns="0" rIns="0">
            <a:spAutoFit/>
          </a:bodyPr>
          <a:lstStyle/>
          <a:p>
            <a:pPr algn="l" marL="0" indent="0" lvl="0">
              <a:lnSpc>
                <a:spcPts val="2534"/>
              </a:lnSpc>
            </a:pPr>
            <a:r>
              <a:rPr lang="en-US" sz="1810" spc="-133">
                <a:solidFill>
                  <a:srgbClr val="F9F9F9"/>
                </a:solidFill>
                <a:latin typeface="Public Sans"/>
                <a:ea typeface="Public Sans"/>
                <a:cs typeface="Public Sans"/>
                <a:sym typeface="Public Sans"/>
              </a:rPr>
              <a:t>Reduced single-GPU config</a:t>
            </a:r>
          </a:p>
        </p:txBody>
      </p:sp>
      <p:sp>
        <p:nvSpPr>
          <p:cNvPr name="TextBox 24" id="24"/>
          <p:cNvSpPr txBox="true"/>
          <p:nvPr/>
        </p:nvSpPr>
        <p:spPr>
          <a:xfrm rot="0">
            <a:off x="11717111" y="5140068"/>
            <a:ext cx="2520710" cy="313413"/>
          </a:xfrm>
          <a:prstGeom prst="rect">
            <a:avLst/>
          </a:prstGeom>
        </p:spPr>
        <p:txBody>
          <a:bodyPr anchor="t" rtlCol="false" tIns="0" lIns="0" bIns="0" rIns="0">
            <a:spAutoFit/>
          </a:bodyPr>
          <a:lstStyle/>
          <a:p>
            <a:pPr algn="l" marL="0" indent="0" lvl="0">
              <a:lnSpc>
                <a:spcPts val="2534"/>
              </a:lnSpc>
            </a:pPr>
            <a:r>
              <a:rPr lang="en-US" sz="1810" spc="-133">
                <a:solidFill>
                  <a:srgbClr val="000000"/>
                </a:solidFill>
                <a:latin typeface="Public Sans"/>
                <a:ea typeface="Public Sans"/>
                <a:cs typeface="Public Sans"/>
                <a:sym typeface="Public Sans"/>
              </a:rPr>
              <a:t>SGD optimizer, 10 epochs</a:t>
            </a:r>
          </a:p>
        </p:txBody>
      </p:sp>
      <p:sp>
        <p:nvSpPr>
          <p:cNvPr name="TextBox 25" id="25"/>
          <p:cNvSpPr txBox="true"/>
          <p:nvPr/>
        </p:nvSpPr>
        <p:spPr>
          <a:xfrm rot="0">
            <a:off x="13863329" y="2632993"/>
            <a:ext cx="2217449" cy="253122"/>
          </a:xfrm>
          <a:prstGeom prst="rect">
            <a:avLst/>
          </a:prstGeom>
        </p:spPr>
        <p:txBody>
          <a:bodyPr anchor="t" rtlCol="false" tIns="0" lIns="0" bIns="0" rIns="0">
            <a:spAutoFit/>
          </a:bodyPr>
          <a:lstStyle/>
          <a:p>
            <a:pPr algn="l" marL="0" indent="0" lvl="0">
              <a:lnSpc>
                <a:spcPts val="2067"/>
              </a:lnSpc>
            </a:pPr>
            <a:r>
              <a:rPr lang="en-US" sz="1476" spc="-109">
                <a:solidFill>
                  <a:srgbClr val="F9F9F9"/>
                </a:solidFill>
                <a:latin typeface="Public Sans"/>
                <a:ea typeface="Public Sans"/>
                <a:cs typeface="Public Sans"/>
                <a:sym typeface="Public Sans"/>
              </a:rPr>
              <a:t>4 blocks · 4 heads</a:t>
            </a:r>
          </a:p>
        </p:txBody>
      </p:sp>
      <p:sp>
        <p:nvSpPr>
          <p:cNvPr name="TextBox 26" id="26"/>
          <p:cNvSpPr txBox="true"/>
          <p:nvPr/>
        </p:nvSpPr>
        <p:spPr>
          <a:xfrm rot="0">
            <a:off x="11717111" y="5458045"/>
            <a:ext cx="2217449" cy="253122"/>
          </a:xfrm>
          <a:prstGeom prst="rect">
            <a:avLst/>
          </a:prstGeom>
        </p:spPr>
        <p:txBody>
          <a:bodyPr anchor="t" rtlCol="false" tIns="0" lIns="0" bIns="0" rIns="0">
            <a:spAutoFit/>
          </a:bodyPr>
          <a:lstStyle/>
          <a:p>
            <a:pPr algn="l" marL="0" indent="0" lvl="0">
              <a:lnSpc>
                <a:spcPts val="2067"/>
              </a:lnSpc>
            </a:pPr>
            <a:r>
              <a:rPr lang="en-US" sz="1476" spc="-109">
                <a:solidFill>
                  <a:srgbClr val="000000"/>
                </a:solidFill>
                <a:latin typeface="Public Sans"/>
                <a:ea typeface="Public Sans"/>
                <a:cs typeface="Public Sans"/>
                <a:sym typeface="Public Sans"/>
              </a:rPr>
              <a:t>35.5M parameters</a:t>
            </a:r>
          </a:p>
        </p:txBody>
      </p:sp>
      <p:sp>
        <p:nvSpPr>
          <p:cNvPr name="TextBox 27" id="27"/>
          <p:cNvSpPr txBox="true"/>
          <p:nvPr/>
        </p:nvSpPr>
        <p:spPr>
          <a:xfrm rot="0">
            <a:off x="13863329" y="7542669"/>
            <a:ext cx="3029636" cy="605824"/>
          </a:xfrm>
          <a:prstGeom prst="rect">
            <a:avLst/>
          </a:prstGeom>
        </p:spPr>
        <p:txBody>
          <a:bodyPr anchor="t" rtlCol="false" tIns="0" lIns="0" bIns="0" rIns="0">
            <a:spAutoFit/>
          </a:bodyPr>
          <a:lstStyle/>
          <a:p>
            <a:pPr algn="l" marL="0" indent="0" lvl="0">
              <a:lnSpc>
                <a:spcPts val="4886"/>
              </a:lnSpc>
            </a:pPr>
            <a:r>
              <a:rPr lang="en-US" sz="3490" spc="-258">
                <a:solidFill>
                  <a:srgbClr val="F9F9F9"/>
                </a:solidFill>
                <a:latin typeface="Public Sans"/>
                <a:ea typeface="Public Sans"/>
                <a:cs typeface="Public Sans"/>
                <a:sym typeface="Public Sans"/>
              </a:rPr>
              <a:t>Resolution</a:t>
            </a:r>
          </a:p>
        </p:txBody>
      </p:sp>
      <p:sp>
        <p:nvSpPr>
          <p:cNvPr name="TextBox 28" id="28"/>
          <p:cNvSpPr txBox="true"/>
          <p:nvPr/>
        </p:nvSpPr>
        <p:spPr>
          <a:xfrm rot="0">
            <a:off x="13863329" y="8113103"/>
            <a:ext cx="2520710" cy="313413"/>
          </a:xfrm>
          <a:prstGeom prst="rect">
            <a:avLst/>
          </a:prstGeom>
        </p:spPr>
        <p:txBody>
          <a:bodyPr anchor="t" rtlCol="false" tIns="0" lIns="0" bIns="0" rIns="0">
            <a:spAutoFit/>
          </a:bodyPr>
          <a:lstStyle/>
          <a:p>
            <a:pPr algn="l" marL="0" indent="0" lvl="0">
              <a:lnSpc>
                <a:spcPts val="2534"/>
              </a:lnSpc>
            </a:pPr>
            <a:r>
              <a:rPr lang="en-US" sz="1810" spc="-133">
                <a:solidFill>
                  <a:srgbClr val="F9F9F9"/>
                </a:solidFill>
                <a:latin typeface="Public Sans"/>
                <a:ea typeface="Public Sans"/>
                <a:cs typeface="Public Sans"/>
                <a:sym typeface="Public Sans"/>
              </a:rPr>
              <a:t>128×128 input frames</a:t>
            </a:r>
          </a:p>
        </p:txBody>
      </p:sp>
      <p:sp>
        <p:nvSpPr>
          <p:cNvPr name="TextBox 29" id="29"/>
          <p:cNvSpPr txBox="true"/>
          <p:nvPr/>
        </p:nvSpPr>
        <p:spPr>
          <a:xfrm rot="0">
            <a:off x="13863329" y="8431080"/>
            <a:ext cx="2217449" cy="253122"/>
          </a:xfrm>
          <a:prstGeom prst="rect">
            <a:avLst/>
          </a:prstGeom>
        </p:spPr>
        <p:txBody>
          <a:bodyPr anchor="t" rtlCol="false" tIns="0" lIns="0" bIns="0" rIns="0">
            <a:spAutoFit/>
          </a:bodyPr>
          <a:lstStyle/>
          <a:p>
            <a:pPr algn="l" marL="0" indent="0" lvl="0">
              <a:lnSpc>
                <a:spcPts val="2067"/>
              </a:lnSpc>
            </a:pPr>
            <a:r>
              <a:rPr lang="en-US" sz="1476" spc="-109">
                <a:solidFill>
                  <a:srgbClr val="F9F9F9"/>
                </a:solidFill>
                <a:latin typeface="Public Sans"/>
                <a:ea typeface="Public Sans"/>
                <a:cs typeface="Public Sans"/>
                <a:sym typeface="Public Sans"/>
              </a:rPr>
              <a:t>vs paper's 300×300</a:t>
            </a:r>
          </a:p>
        </p:txBody>
      </p:sp>
      <p:sp>
        <p:nvSpPr>
          <p:cNvPr name="TextBox 30" id="30"/>
          <p:cNvSpPr txBox="true"/>
          <p:nvPr/>
        </p:nvSpPr>
        <p:spPr>
          <a:xfrm rot="0">
            <a:off x="1392728" y="4416309"/>
            <a:ext cx="3701509" cy="865249"/>
          </a:xfrm>
          <a:prstGeom prst="rect">
            <a:avLst/>
          </a:prstGeom>
        </p:spPr>
        <p:txBody>
          <a:bodyPr anchor="t" rtlCol="false" tIns="0" lIns="0" bIns="0" rIns="0">
            <a:spAutoFit/>
          </a:bodyPr>
          <a:lstStyle/>
          <a:p>
            <a:pPr algn="l" marL="0" indent="0" lvl="0">
              <a:lnSpc>
                <a:spcPts val="7016"/>
              </a:lnSpc>
            </a:pPr>
            <a:r>
              <a:rPr lang="en-US" sz="5012" spc="-370">
                <a:solidFill>
                  <a:srgbClr val="F9F9F9"/>
                </a:solidFill>
                <a:latin typeface="Public Sans"/>
                <a:ea typeface="Public Sans"/>
                <a:cs typeface="Public Sans"/>
                <a:sym typeface="Public Sans"/>
              </a:rPr>
              <a:t>Config</a:t>
            </a:r>
          </a:p>
        </p:txBody>
      </p:sp>
      <p:sp>
        <p:nvSpPr>
          <p:cNvPr name="TextBox 31" id="31"/>
          <p:cNvSpPr txBox="true"/>
          <p:nvPr/>
        </p:nvSpPr>
        <p:spPr>
          <a:xfrm rot="0">
            <a:off x="3954748" y="4718129"/>
            <a:ext cx="4234459" cy="1026334"/>
          </a:xfrm>
          <a:prstGeom prst="rect">
            <a:avLst/>
          </a:prstGeom>
        </p:spPr>
        <p:txBody>
          <a:bodyPr anchor="t" rtlCol="false" tIns="0" lIns="0" bIns="0" rIns="0">
            <a:spAutoFit/>
          </a:bodyPr>
          <a:lstStyle/>
          <a:p>
            <a:pPr algn="l" marL="0" indent="0" lvl="0">
              <a:lnSpc>
                <a:spcPts val="2755"/>
              </a:lnSpc>
            </a:pPr>
            <a:r>
              <a:rPr lang="en-US" sz="1968" spc="-145">
                <a:solidFill>
                  <a:srgbClr val="F9F9F9"/>
                </a:solidFill>
                <a:latin typeface="Public Sans"/>
                <a:ea typeface="Public Sans"/>
                <a:cs typeface="Public Sans"/>
                <a:sym typeface="Public Sans"/>
              </a:rPr>
              <a:t>4 Transformer Blocks (paper: 12)</a:t>
            </a:r>
          </a:p>
          <a:p>
            <a:pPr algn="l" marL="0" indent="0" lvl="0">
              <a:lnSpc>
                <a:spcPts val="2755"/>
              </a:lnSpc>
            </a:pPr>
            <a:r>
              <a:rPr lang="en-US" sz="1968" spc="-145">
                <a:solidFill>
                  <a:srgbClr val="F9F9F9"/>
                </a:solidFill>
                <a:latin typeface="Public Sans"/>
                <a:ea typeface="Public Sans"/>
                <a:cs typeface="Public Sans"/>
                <a:sym typeface="Public Sans"/>
              </a:rPr>
              <a:t>4 Attention Heads (paper: 8)</a:t>
            </a:r>
          </a:p>
          <a:p>
            <a:pPr algn="l" marL="0" indent="0" lvl="0">
              <a:lnSpc>
                <a:spcPts val="2755"/>
              </a:lnSpc>
            </a:pPr>
            <a:r>
              <a:rPr lang="en-US" sz="1968" spc="-145">
                <a:solidFill>
                  <a:srgbClr val="F9F9F9"/>
                </a:solidFill>
                <a:latin typeface="Public Sans"/>
                <a:ea typeface="Public Sans"/>
                <a:cs typeface="Public Sans"/>
                <a:sym typeface="Public Sans"/>
              </a:rPr>
              <a:t>128×128 Input Resolution (paper: 300×300)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028700" y="1877894"/>
            <a:ext cx="7901555" cy="2128918"/>
          </a:xfrm>
          <a:custGeom>
            <a:avLst/>
            <a:gdLst/>
            <a:ahLst/>
            <a:cxnLst/>
            <a:rect r="r" b="b" t="t" l="l"/>
            <a:pathLst>
              <a:path h="2128918" w="7901555">
                <a:moveTo>
                  <a:pt x="0" y="0"/>
                </a:moveTo>
                <a:lnTo>
                  <a:pt x="7901555" y="0"/>
                </a:lnTo>
                <a:lnTo>
                  <a:pt x="7901555" y="2128918"/>
                </a:lnTo>
                <a:lnTo>
                  <a:pt x="0" y="2128918"/>
                </a:lnTo>
                <a:lnTo>
                  <a:pt x="0" y="0"/>
                </a:lnTo>
                <a:close/>
              </a:path>
            </a:pathLst>
          </a:custGeom>
          <a:blipFill>
            <a:blip r:embed="rId3">
              <a:alphaModFix amt="70000"/>
            </a:blip>
            <a:stretch>
              <a:fillRect l="-401216" t="-217720" r="-98792" b="-1168266"/>
            </a:stretch>
          </a:blipFill>
        </p:spPr>
      </p:sp>
      <p:sp>
        <p:nvSpPr>
          <p:cNvPr name="TextBox 4" id="4"/>
          <p:cNvSpPr txBox="true"/>
          <p:nvPr/>
        </p:nvSpPr>
        <p:spPr>
          <a:xfrm rot="0">
            <a:off x="1488889" y="2208431"/>
            <a:ext cx="7154795" cy="1620883"/>
          </a:xfrm>
          <a:prstGeom prst="rect">
            <a:avLst/>
          </a:prstGeom>
        </p:spPr>
        <p:txBody>
          <a:bodyPr anchor="t" rtlCol="false" tIns="0" lIns="0" bIns="0" rIns="0">
            <a:spAutoFit/>
          </a:bodyPr>
          <a:lstStyle/>
          <a:p>
            <a:pPr algn="l" marL="0" indent="0" lvl="0">
              <a:lnSpc>
                <a:spcPts val="6113"/>
              </a:lnSpc>
            </a:pPr>
            <a:r>
              <a:rPr lang="en-US" sz="6792" spc="-407">
                <a:solidFill>
                  <a:srgbClr val="FFFFFF"/>
                </a:solidFill>
                <a:latin typeface="TT Interphases"/>
                <a:ea typeface="TT Interphases"/>
                <a:cs typeface="TT Interphases"/>
                <a:sym typeface="TT Interphases"/>
              </a:rPr>
              <a:t>MAIN DETECTION RESULTS</a:t>
            </a:r>
          </a:p>
        </p:txBody>
      </p:sp>
      <p:grpSp>
        <p:nvGrpSpPr>
          <p:cNvPr name="Group 5" id="5"/>
          <p:cNvGrpSpPr/>
          <p:nvPr/>
        </p:nvGrpSpPr>
        <p:grpSpPr>
          <a:xfrm rot="0">
            <a:off x="9706726" y="1031615"/>
            <a:ext cx="7292786" cy="8226685"/>
            <a:chOff x="0" y="0"/>
            <a:chExt cx="1096242" cy="1236625"/>
          </a:xfrm>
        </p:grpSpPr>
        <p:sp>
          <p:nvSpPr>
            <p:cNvPr name="Freeform 6" id="6"/>
            <p:cNvSpPr/>
            <p:nvPr/>
          </p:nvSpPr>
          <p:spPr>
            <a:xfrm flipH="false" flipV="false" rot="0">
              <a:off x="0" y="0"/>
              <a:ext cx="1096242" cy="1236625"/>
            </a:xfrm>
            <a:custGeom>
              <a:avLst/>
              <a:gdLst/>
              <a:ahLst/>
              <a:cxnLst/>
              <a:rect r="r" b="b" t="t" l="l"/>
              <a:pathLst>
                <a:path h="1236625" w="1096242">
                  <a:moveTo>
                    <a:pt x="57326" y="0"/>
                  </a:moveTo>
                  <a:lnTo>
                    <a:pt x="1038916" y="0"/>
                  </a:lnTo>
                  <a:cubicBezTo>
                    <a:pt x="1070577" y="0"/>
                    <a:pt x="1096242" y="25666"/>
                    <a:pt x="1096242" y="57326"/>
                  </a:cubicBezTo>
                  <a:lnTo>
                    <a:pt x="1096242" y="1179299"/>
                  </a:lnTo>
                  <a:cubicBezTo>
                    <a:pt x="1096242" y="1194503"/>
                    <a:pt x="1090202" y="1209084"/>
                    <a:pt x="1079452" y="1219834"/>
                  </a:cubicBezTo>
                  <a:cubicBezTo>
                    <a:pt x="1068701" y="1230585"/>
                    <a:pt x="1054120" y="1236625"/>
                    <a:pt x="1038916" y="1236625"/>
                  </a:cubicBezTo>
                  <a:lnTo>
                    <a:pt x="57326" y="1236625"/>
                  </a:lnTo>
                  <a:cubicBezTo>
                    <a:pt x="25666" y="1236625"/>
                    <a:pt x="0" y="1210959"/>
                    <a:pt x="0" y="1179299"/>
                  </a:cubicBezTo>
                  <a:lnTo>
                    <a:pt x="0" y="57326"/>
                  </a:lnTo>
                  <a:cubicBezTo>
                    <a:pt x="0" y="25666"/>
                    <a:pt x="25666" y="0"/>
                    <a:pt x="57326"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7" id="7"/>
            <p:cNvSpPr txBox="true"/>
            <p:nvPr/>
          </p:nvSpPr>
          <p:spPr>
            <a:xfrm>
              <a:off x="0" y="-38100"/>
              <a:ext cx="1096242" cy="1274725"/>
            </a:xfrm>
            <a:prstGeom prst="rect">
              <a:avLst/>
            </a:prstGeom>
          </p:spPr>
          <p:txBody>
            <a:bodyPr anchor="ctr" rtlCol="false" tIns="50800" lIns="50800" bIns="50800" rIns="50800"/>
            <a:lstStyle/>
            <a:p>
              <a:pPr algn="ctr" marL="0" indent="0" lvl="0">
                <a:lnSpc>
                  <a:spcPts val="2659"/>
                </a:lnSpc>
                <a:spcBef>
                  <a:spcPct val="0"/>
                </a:spcBef>
              </a:pPr>
            </a:p>
          </p:txBody>
        </p:sp>
      </p:grpSp>
      <p:pic>
        <p:nvPicPr>
          <p:cNvPr name="Picture 8" id="8"/>
          <p:cNvPicPr>
            <a:picLocks noChangeAspect="true"/>
          </p:cNvPicPr>
          <p:nvPr/>
        </p:nvPicPr>
        <p:blipFill>
          <a:blip r:embed="rId4"/>
          <a:stretch>
            <a:fillRect/>
          </a:stretch>
        </p:blipFill>
        <p:spPr>
          <a:xfrm rot="0">
            <a:off x="9551919" y="838943"/>
            <a:ext cx="7602401" cy="8612030"/>
          </a:xfrm>
          <a:prstGeom prst="rect">
            <a:avLst/>
          </a:prstGeom>
        </p:spPr>
      </p:pic>
      <p:sp>
        <p:nvSpPr>
          <p:cNvPr name="TextBox 9" id="9"/>
          <p:cNvSpPr txBox="true"/>
          <p:nvPr/>
        </p:nvSpPr>
        <p:spPr>
          <a:xfrm rot="0">
            <a:off x="1488889" y="6388883"/>
            <a:ext cx="6948477" cy="1953895"/>
          </a:xfrm>
          <a:prstGeom prst="rect">
            <a:avLst/>
          </a:prstGeom>
        </p:spPr>
        <p:txBody>
          <a:bodyPr anchor="t" rtlCol="false" tIns="0" lIns="0" bIns="0" rIns="0">
            <a:spAutoFit/>
          </a:bodyPr>
          <a:lstStyle/>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Test Accuracy: 85.84%</a:t>
            </a:r>
          </a:p>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Test AUROC: 93.14%</a:t>
            </a:r>
          </a:p>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Recall (Fake): 0.90 vs Recall (Real): 0.82</a:t>
            </a:r>
          </a:p>
          <a:p>
            <a:pPr algn="l" marL="0" indent="0" lvl="0">
              <a:lnSpc>
                <a:spcPts val="3079"/>
              </a:lnSpc>
            </a:pPr>
            <a:r>
              <a:rPr lang="en-US" sz="2199" i="true" spc="-138">
                <a:solidFill>
                  <a:srgbClr val="F9F9F9"/>
                </a:solidFill>
                <a:latin typeface="Public Sans Light Italics"/>
                <a:ea typeface="Public Sans Light Italics"/>
                <a:cs typeface="Public Sans Light Italics"/>
                <a:sym typeface="Public Sans Light Italics"/>
              </a:rPr>
              <a:t>Training accuracy improved from 55.81% to 87.53% over 10 epochs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593051" y="1028700"/>
            <a:ext cx="15101898" cy="2128918"/>
          </a:xfrm>
          <a:custGeom>
            <a:avLst/>
            <a:gdLst/>
            <a:ahLst/>
            <a:cxnLst/>
            <a:rect r="r" b="b" t="t" l="l"/>
            <a:pathLst>
              <a:path h="2128918" w="15101898">
                <a:moveTo>
                  <a:pt x="0" y="0"/>
                </a:moveTo>
                <a:lnTo>
                  <a:pt x="15101898" y="0"/>
                </a:lnTo>
                <a:lnTo>
                  <a:pt x="15101898" y="2128918"/>
                </a:lnTo>
                <a:lnTo>
                  <a:pt x="0" y="2128918"/>
                </a:lnTo>
                <a:lnTo>
                  <a:pt x="0" y="0"/>
                </a:lnTo>
                <a:close/>
              </a:path>
            </a:pathLst>
          </a:custGeom>
          <a:blipFill>
            <a:blip r:embed="rId3">
              <a:alphaModFix amt="70000"/>
            </a:blip>
            <a:stretch>
              <a:fillRect l="-209923" t="-217720" r="-4011" b="-1168266"/>
            </a:stretch>
          </a:blipFill>
        </p:spPr>
      </p:sp>
      <p:sp>
        <p:nvSpPr>
          <p:cNvPr name="TextBox 4" id="4"/>
          <p:cNvSpPr txBox="true"/>
          <p:nvPr/>
        </p:nvSpPr>
        <p:spPr>
          <a:xfrm rot="0">
            <a:off x="2495540" y="1383741"/>
            <a:ext cx="13724023" cy="1053316"/>
          </a:xfrm>
          <a:prstGeom prst="rect">
            <a:avLst/>
          </a:prstGeom>
        </p:spPr>
        <p:txBody>
          <a:bodyPr anchor="t" rtlCol="false" tIns="0" lIns="0" bIns="0" rIns="0">
            <a:spAutoFit/>
          </a:bodyPr>
          <a:lstStyle/>
          <a:p>
            <a:pPr algn="l" marL="0" indent="0" lvl="0">
              <a:lnSpc>
                <a:spcPts val="7643"/>
              </a:lnSpc>
            </a:pPr>
            <a:r>
              <a:rPr lang="en-US" sz="8492" spc="-509">
                <a:solidFill>
                  <a:srgbClr val="FFFFFF"/>
                </a:solidFill>
                <a:latin typeface="TT Interphases"/>
                <a:ea typeface="TT Interphases"/>
                <a:cs typeface="TT Interphases"/>
                <a:sym typeface="TT Interphases"/>
              </a:rPr>
              <a:t>SEQUENCE LENGTH ABLATION</a:t>
            </a:r>
          </a:p>
        </p:txBody>
      </p:sp>
      <p:sp>
        <p:nvSpPr>
          <p:cNvPr name="TextBox 5" id="5"/>
          <p:cNvSpPr txBox="true"/>
          <p:nvPr/>
        </p:nvSpPr>
        <p:spPr>
          <a:xfrm rot="0">
            <a:off x="8218595" y="4255673"/>
            <a:ext cx="8476354" cy="1563409"/>
          </a:xfrm>
          <a:prstGeom prst="rect">
            <a:avLst/>
          </a:prstGeom>
        </p:spPr>
        <p:txBody>
          <a:bodyPr anchor="t" rtlCol="false" tIns="0" lIns="0" bIns="0" rIns="0">
            <a:spAutoFit/>
          </a:bodyPr>
          <a:lstStyle/>
          <a:p>
            <a:pPr algn="l" marL="0" indent="0" lvl="0">
              <a:lnSpc>
                <a:spcPts val="3077"/>
              </a:lnSpc>
            </a:pPr>
            <a:r>
              <a:rPr lang="en-US" sz="2198" i="true" spc="-138">
                <a:solidFill>
                  <a:srgbClr val="F9F9F9"/>
                </a:solidFill>
                <a:latin typeface="Public Sans Light Italics"/>
                <a:ea typeface="Public Sans Light Italics"/>
                <a:cs typeface="Public Sans Light Italics"/>
                <a:sym typeface="Public Sans Light Italics"/>
              </a:rPr>
              <a:t>We tested six sequence lengths — 2, 4, 6, 8, 12, and 16 frames — to determine the optimal temporal window for deepfake detection. The 4-frame sequence achieved the highest validation accuracy at 64%, outperforming both shorter and longer configurations.</a:t>
            </a:r>
          </a:p>
        </p:txBody>
      </p:sp>
      <p:grpSp>
        <p:nvGrpSpPr>
          <p:cNvPr name="Group 6" id="6"/>
          <p:cNvGrpSpPr/>
          <p:nvPr/>
        </p:nvGrpSpPr>
        <p:grpSpPr>
          <a:xfrm rot="0">
            <a:off x="1769747" y="3763072"/>
            <a:ext cx="5696917" cy="5495228"/>
            <a:chOff x="0" y="0"/>
            <a:chExt cx="965546" cy="931363"/>
          </a:xfrm>
        </p:grpSpPr>
        <p:sp>
          <p:nvSpPr>
            <p:cNvPr name="Freeform 7" id="7"/>
            <p:cNvSpPr/>
            <p:nvPr/>
          </p:nvSpPr>
          <p:spPr>
            <a:xfrm flipH="false" flipV="false" rot="0">
              <a:off x="0" y="0"/>
              <a:ext cx="965546" cy="931363"/>
            </a:xfrm>
            <a:custGeom>
              <a:avLst/>
              <a:gdLst/>
              <a:ahLst/>
              <a:cxnLst/>
              <a:rect r="r" b="b" t="t" l="l"/>
              <a:pathLst>
                <a:path h="931363" w="965546">
                  <a:moveTo>
                    <a:pt x="48923" y="0"/>
                  </a:moveTo>
                  <a:lnTo>
                    <a:pt x="916623" y="0"/>
                  </a:lnTo>
                  <a:cubicBezTo>
                    <a:pt x="929598" y="0"/>
                    <a:pt x="942042" y="5154"/>
                    <a:pt x="951217" y="14329"/>
                  </a:cubicBezTo>
                  <a:cubicBezTo>
                    <a:pt x="960392" y="23504"/>
                    <a:pt x="965546" y="35948"/>
                    <a:pt x="965546" y="48923"/>
                  </a:cubicBezTo>
                  <a:lnTo>
                    <a:pt x="965546" y="882440"/>
                  </a:lnTo>
                  <a:cubicBezTo>
                    <a:pt x="965546" y="909459"/>
                    <a:pt x="943643" y="931363"/>
                    <a:pt x="916623" y="931363"/>
                  </a:cubicBezTo>
                  <a:lnTo>
                    <a:pt x="48923" y="931363"/>
                  </a:lnTo>
                  <a:cubicBezTo>
                    <a:pt x="35948" y="931363"/>
                    <a:pt x="23504" y="926209"/>
                    <a:pt x="14329" y="917034"/>
                  </a:cubicBezTo>
                  <a:cubicBezTo>
                    <a:pt x="5154" y="907859"/>
                    <a:pt x="0" y="895415"/>
                    <a:pt x="0" y="882440"/>
                  </a:cubicBezTo>
                  <a:lnTo>
                    <a:pt x="0" y="48923"/>
                  </a:lnTo>
                  <a:cubicBezTo>
                    <a:pt x="0" y="21903"/>
                    <a:pt x="21903" y="0"/>
                    <a:pt x="48923" y="0"/>
                  </a:cubicBezTo>
                  <a:close/>
                </a:path>
              </a:pathLst>
            </a:custGeom>
            <a:solidFill>
              <a:srgbClr val="FFFFFF"/>
            </a:solidFill>
            <a:ln w="9525" cap="rnd">
              <a:solidFill>
                <a:srgbClr val="222223"/>
              </a:solidFill>
              <a:prstDash val="solid"/>
              <a:round/>
            </a:ln>
          </p:spPr>
        </p:sp>
        <p:sp>
          <p:nvSpPr>
            <p:cNvPr name="TextBox 8" id="8"/>
            <p:cNvSpPr txBox="true"/>
            <p:nvPr/>
          </p:nvSpPr>
          <p:spPr>
            <a:xfrm>
              <a:off x="0" y="-38100"/>
              <a:ext cx="965546" cy="969463"/>
            </a:xfrm>
            <a:prstGeom prst="rect">
              <a:avLst/>
            </a:prstGeom>
          </p:spPr>
          <p:txBody>
            <a:bodyPr anchor="ctr" rtlCol="false" tIns="50800" lIns="50800" bIns="50800" rIns="50800"/>
            <a:lstStyle/>
            <a:p>
              <a:pPr algn="ctr" marL="0" indent="0" lvl="0">
                <a:lnSpc>
                  <a:spcPts val="2659"/>
                </a:lnSpc>
                <a:spcBef>
                  <a:spcPct val="0"/>
                </a:spcBef>
              </a:pPr>
            </a:p>
          </p:txBody>
        </p:sp>
      </p:grpSp>
      <p:pic>
        <p:nvPicPr>
          <p:cNvPr name="Picture 9" id="9"/>
          <p:cNvPicPr>
            <a:picLocks noChangeAspect="true"/>
          </p:cNvPicPr>
          <p:nvPr/>
        </p:nvPicPr>
        <p:blipFill>
          <a:blip r:embed="rId4"/>
          <a:stretch>
            <a:fillRect/>
          </a:stretch>
        </p:blipFill>
        <p:spPr>
          <a:xfrm rot="0">
            <a:off x="1853905" y="3576094"/>
            <a:ext cx="5528601" cy="5912964"/>
          </a:xfrm>
          <a:prstGeom prst="rect">
            <a:avLst/>
          </a:prstGeom>
        </p:spPr>
      </p:pic>
      <p:sp>
        <p:nvSpPr>
          <p:cNvPr name="TextBox 10" id="10"/>
          <p:cNvSpPr txBox="true"/>
          <p:nvPr/>
        </p:nvSpPr>
        <p:spPr>
          <a:xfrm rot="0">
            <a:off x="8218595" y="6628443"/>
            <a:ext cx="8476354" cy="1953934"/>
          </a:xfrm>
          <a:prstGeom prst="rect">
            <a:avLst/>
          </a:prstGeom>
        </p:spPr>
        <p:txBody>
          <a:bodyPr anchor="t" rtlCol="false" tIns="0" lIns="0" bIns="0" rIns="0">
            <a:spAutoFit/>
          </a:bodyPr>
          <a:lstStyle/>
          <a:p>
            <a:pPr algn="l" marL="0" indent="0" lvl="0">
              <a:lnSpc>
                <a:spcPts val="3077"/>
              </a:lnSpc>
            </a:pPr>
            <a:r>
              <a:rPr lang="en-US" sz="2198" i="true" spc="-138">
                <a:solidFill>
                  <a:srgbClr val="F9F9F9"/>
                </a:solidFill>
                <a:latin typeface="Public Sans Light Italics"/>
                <a:ea typeface="Public Sans Light Italics"/>
                <a:cs typeface="Public Sans Light Italics"/>
                <a:sym typeface="Public Sans Light Italics"/>
              </a:rPr>
              <a:t>Longer sequences did not improve performance, partly due to limited frames per video in the FaceForensics++ dataset. This confirms the original paper's finding: short-term inter-frame inconsistencies are the most informative cues for detecting forgeries, and the self-subtract mechanism is well-suited to capture them.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1593051" y="1028700"/>
            <a:ext cx="15101898" cy="2128918"/>
          </a:xfrm>
          <a:custGeom>
            <a:avLst/>
            <a:gdLst/>
            <a:ahLst/>
            <a:cxnLst/>
            <a:rect r="r" b="b" t="t" l="l"/>
            <a:pathLst>
              <a:path h="2128918" w="15101898">
                <a:moveTo>
                  <a:pt x="0" y="0"/>
                </a:moveTo>
                <a:lnTo>
                  <a:pt x="15101898" y="0"/>
                </a:lnTo>
                <a:lnTo>
                  <a:pt x="15101898" y="2128918"/>
                </a:lnTo>
                <a:lnTo>
                  <a:pt x="0" y="2128918"/>
                </a:lnTo>
                <a:lnTo>
                  <a:pt x="0" y="0"/>
                </a:lnTo>
                <a:close/>
              </a:path>
            </a:pathLst>
          </a:custGeom>
          <a:blipFill>
            <a:blip r:embed="rId3">
              <a:alphaModFix amt="70000"/>
            </a:blip>
            <a:stretch>
              <a:fillRect l="-209923" t="-217720" r="-4011" b="-1168266"/>
            </a:stretch>
          </a:blipFill>
        </p:spPr>
      </p:sp>
      <p:sp>
        <p:nvSpPr>
          <p:cNvPr name="TextBox 4" id="4"/>
          <p:cNvSpPr txBox="true"/>
          <p:nvPr/>
        </p:nvSpPr>
        <p:spPr>
          <a:xfrm rot="0">
            <a:off x="2495540" y="1440891"/>
            <a:ext cx="13724023" cy="1276665"/>
          </a:xfrm>
          <a:prstGeom prst="rect">
            <a:avLst/>
          </a:prstGeom>
        </p:spPr>
        <p:txBody>
          <a:bodyPr anchor="t" rtlCol="false" tIns="0" lIns="0" bIns="0" rIns="0">
            <a:spAutoFit/>
          </a:bodyPr>
          <a:lstStyle/>
          <a:p>
            <a:pPr algn="l" marL="0" indent="0" lvl="0">
              <a:lnSpc>
                <a:spcPts val="9286"/>
              </a:lnSpc>
            </a:pPr>
            <a:r>
              <a:rPr lang="en-US" sz="10317" spc="-619">
                <a:solidFill>
                  <a:srgbClr val="FFFFFF"/>
                </a:solidFill>
                <a:latin typeface="TT Interphases"/>
                <a:ea typeface="TT Interphases"/>
                <a:cs typeface="TT Interphases"/>
                <a:sym typeface="TT Interphases"/>
              </a:rPr>
              <a:t>MODEL DEPTH ABLATION</a:t>
            </a:r>
          </a:p>
        </p:txBody>
      </p:sp>
      <p:sp>
        <p:nvSpPr>
          <p:cNvPr name="TextBox 5" id="5"/>
          <p:cNvSpPr txBox="true"/>
          <p:nvPr/>
        </p:nvSpPr>
        <p:spPr>
          <a:xfrm rot="0">
            <a:off x="8218595" y="4255673"/>
            <a:ext cx="8476354" cy="1563409"/>
          </a:xfrm>
          <a:prstGeom prst="rect">
            <a:avLst/>
          </a:prstGeom>
        </p:spPr>
        <p:txBody>
          <a:bodyPr anchor="t" rtlCol="false" tIns="0" lIns="0" bIns="0" rIns="0">
            <a:spAutoFit/>
          </a:bodyPr>
          <a:lstStyle/>
          <a:p>
            <a:pPr algn="l" marL="0" indent="0" lvl="0">
              <a:lnSpc>
                <a:spcPts val="3077"/>
              </a:lnSpc>
            </a:pPr>
            <a:r>
              <a:rPr lang="en-US" sz="2198" i="true" spc="-138">
                <a:solidFill>
                  <a:srgbClr val="F9F9F9"/>
                </a:solidFill>
                <a:latin typeface="Public Sans Light Italics"/>
                <a:ea typeface="Public Sans Light Italics"/>
                <a:cs typeface="Public Sans Light Italics"/>
                <a:sym typeface="Public Sans Light Italics"/>
              </a:rPr>
              <a:t>We evaluated ISTVT with 4, 6, 8, and 12 transformer blocks on a smaller training subset. Contrary to typical deep learning intuition, accuracy did not improve monotonically with depth — 4 blocks achieved the best validation accuracy at 66%, while deeper configurations progressively underperformed.</a:t>
            </a:r>
          </a:p>
        </p:txBody>
      </p:sp>
      <p:grpSp>
        <p:nvGrpSpPr>
          <p:cNvPr name="Group 6" id="6"/>
          <p:cNvGrpSpPr/>
          <p:nvPr/>
        </p:nvGrpSpPr>
        <p:grpSpPr>
          <a:xfrm rot="0">
            <a:off x="1769747" y="3763072"/>
            <a:ext cx="5696917" cy="5495228"/>
            <a:chOff x="0" y="0"/>
            <a:chExt cx="965546" cy="931363"/>
          </a:xfrm>
        </p:grpSpPr>
        <p:sp>
          <p:nvSpPr>
            <p:cNvPr name="Freeform 7" id="7"/>
            <p:cNvSpPr/>
            <p:nvPr/>
          </p:nvSpPr>
          <p:spPr>
            <a:xfrm flipH="false" flipV="false" rot="0">
              <a:off x="0" y="0"/>
              <a:ext cx="965546" cy="931363"/>
            </a:xfrm>
            <a:custGeom>
              <a:avLst/>
              <a:gdLst/>
              <a:ahLst/>
              <a:cxnLst/>
              <a:rect r="r" b="b" t="t" l="l"/>
              <a:pathLst>
                <a:path h="931363" w="965546">
                  <a:moveTo>
                    <a:pt x="48923" y="0"/>
                  </a:moveTo>
                  <a:lnTo>
                    <a:pt x="916623" y="0"/>
                  </a:lnTo>
                  <a:cubicBezTo>
                    <a:pt x="929598" y="0"/>
                    <a:pt x="942042" y="5154"/>
                    <a:pt x="951217" y="14329"/>
                  </a:cubicBezTo>
                  <a:cubicBezTo>
                    <a:pt x="960392" y="23504"/>
                    <a:pt x="965546" y="35948"/>
                    <a:pt x="965546" y="48923"/>
                  </a:cubicBezTo>
                  <a:lnTo>
                    <a:pt x="965546" y="882440"/>
                  </a:lnTo>
                  <a:cubicBezTo>
                    <a:pt x="965546" y="909459"/>
                    <a:pt x="943643" y="931363"/>
                    <a:pt x="916623" y="931363"/>
                  </a:cubicBezTo>
                  <a:lnTo>
                    <a:pt x="48923" y="931363"/>
                  </a:lnTo>
                  <a:cubicBezTo>
                    <a:pt x="35948" y="931363"/>
                    <a:pt x="23504" y="926209"/>
                    <a:pt x="14329" y="917034"/>
                  </a:cubicBezTo>
                  <a:cubicBezTo>
                    <a:pt x="5154" y="907859"/>
                    <a:pt x="0" y="895415"/>
                    <a:pt x="0" y="882440"/>
                  </a:cubicBezTo>
                  <a:lnTo>
                    <a:pt x="0" y="48923"/>
                  </a:lnTo>
                  <a:cubicBezTo>
                    <a:pt x="0" y="21903"/>
                    <a:pt x="21903" y="0"/>
                    <a:pt x="48923" y="0"/>
                  </a:cubicBezTo>
                  <a:close/>
                </a:path>
              </a:pathLst>
            </a:custGeom>
            <a:solidFill>
              <a:srgbClr val="FFFFFF"/>
            </a:solidFill>
            <a:ln w="9525" cap="rnd">
              <a:solidFill>
                <a:srgbClr val="222223"/>
              </a:solidFill>
              <a:prstDash val="solid"/>
              <a:round/>
            </a:ln>
          </p:spPr>
        </p:sp>
        <p:sp>
          <p:nvSpPr>
            <p:cNvPr name="TextBox 8" id="8"/>
            <p:cNvSpPr txBox="true"/>
            <p:nvPr/>
          </p:nvSpPr>
          <p:spPr>
            <a:xfrm>
              <a:off x="0" y="-38100"/>
              <a:ext cx="965546" cy="969463"/>
            </a:xfrm>
            <a:prstGeom prst="rect">
              <a:avLst/>
            </a:prstGeom>
          </p:spPr>
          <p:txBody>
            <a:bodyPr anchor="ctr" rtlCol="false" tIns="50800" lIns="50800" bIns="50800" rIns="50800"/>
            <a:lstStyle/>
            <a:p>
              <a:pPr algn="ctr" marL="0" indent="0" lvl="0">
                <a:lnSpc>
                  <a:spcPts val="2659"/>
                </a:lnSpc>
                <a:spcBef>
                  <a:spcPct val="0"/>
                </a:spcBef>
              </a:pPr>
            </a:p>
          </p:txBody>
        </p:sp>
      </p:grpSp>
      <p:pic>
        <p:nvPicPr>
          <p:cNvPr name="Picture 9" id="9"/>
          <p:cNvPicPr>
            <a:picLocks noChangeAspect="true"/>
          </p:cNvPicPr>
          <p:nvPr/>
        </p:nvPicPr>
        <p:blipFill>
          <a:blip r:embed="rId4"/>
          <a:stretch>
            <a:fillRect/>
          </a:stretch>
        </p:blipFill>
        <p:spPr>
          <a:xfrm rot="0">
            <a:off x="1844778" y="3576094"/>
            <a:ext cx="5546853" cy="5912964"/>
          </a:xfrm>
          <a:prstGeom prst="rect">
            <a:avLst/>
          </a:prstGeom>
        </p:spPr>
      </p:pic>
      <p:sp>
        <p:nvSpPr>
          <p:cNvPr name="TextBox 10" id="10"/>
          <p:cNvSpPr txBox="true"/>
          <p:nvPr/>
        </p:nvSpPr>
        <p:spPr>
          <a:xfrm rot="0">
            <a:off x="8218595" y="6628443"/>
            <a:ext cx="8476354" cy="1953934"/>
          </a:xfrm>
          <a:prstGeom prst="rect">
            <a:avLst/>
          </a:prstGeom>
        </p:spPr>
        <p:txBody>
          <a:bodyPr anchor="t" rtlCol="false" tIns="0" lIns="0" bIns="0" rIns="0">
            <a:spAutoFit/>
          </a:bodyPr>
          <a:lstStyle/>
          <a:p>
            <a:pPr algn="l" marL="0" indent="0" lvl="0">
              <a:lnSpc>
                <a:spcPts val="3077"/>
              </a:lnSpc>
            </a:pPr>
            <a:r>
              <a:rPr lang="en-US" sz="2198" i="true" spc="-138">
                <a:solidFill>
                  <a:srgbClr val="F9F9F9"/>
                </a:solidFill>
                <a:latin typeface="Public Sans Light Italics"/>
                <a:ea typeface="Public Sans Light Italics"/>
                <a:cs typeface="Public Sans Light Italics"/>
                <a:sym typeface="Public Sans Light Italics"/>
              </a:rPr>
              <a:t>This result aligns with the original paper's claim that deepfake detection cues are low-level textural and temporal inconsistencies rather than deep semantic features. Stacking more blocks introduces unnecessary complexity and potential overfitting, confirming that a shallow transformer is well-suited for this task.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552442" y="1155532"/>
            <a:ext cx="9173078" cy="1955360"/>
          </a:xfrm>
          <a:custGeom>
            <a:avLst/>
            <a:gdLst/>
            <a:ahLst/>
            <a:cxnLst/>
            <a:rect r="r" b="b" t="t" l="l"/>
            <a:pathLst>
              <a:path h="1955360" w="9173078">
                <a:moveTo>
                  <a:pt x="0" y="0"/>
                </a:moveTo>
                <a:lnTo>
                  <a:pt x="9173079" y="0"/>
                </a:lnTo>
                <a:lnTo>
                  <a:pt x="9173079" y="1955360"/>
                </a:lnTo>
                <a:lnTo>
                  <a:pt x="0" y="1955360"/>
                </a:lnTo>
                <a:lnTo>
                  <a:pt x="0" y="0"/>
                </a:lnTo>
                <a:close/>
              </a:path>
            </a:pathLst>
          </a:custGeom>
          <a:blipFill>
            <a:blip r:embed="rId3">
              <a:alphaModFix amt="70000"/>
            </a:blip>
            <a:stretch>
              <a:fillRect l="-128939" t="-100395" r="-93343" b="-808461"/>
            </a:stretch>
          </a:blipFill>
        </p:spPr>
      </p:sp>
      <p:sp>
        <p:nvSpPr>
          <p:cNvPr name="TextBox 4" id="4"/>
          <p:cNvSpPr txBox="true"/>
          <p:nvPr/>
        </p:nvSpPr>
        <p:spPr>
          <a:xfrm rot="0">
            <a:off x="1028700" y="1593557"/>
            <a:ext cx="10464523" cy="1402854"/>
          </a:xfrm>
          <a:prstGeom prst="rect">
            <a:avLst/>
          </a:prstGeom>
        </p:spPr>
        <p:txBody>
          <a:bodyPr anchor="t" rtlCol="false" tIns="0" lIns="0" bIns="0" rIns="0">
            <a:spAutoFit/>
          </a:bodyPr>
          <a:lstStyle/>
          <a:p>
            <a:pPr algn="l" marL="0" indent="0" lvl="0">
              <a:lnSpc>
                <a:spcPts val="10245"/>
              </a:lnSpc>
            </a:pPr>
            <a:r>
              <a:rPr lang="en-US" sz="11383" spc="-683">
                <a:solidFill>
                  <a:srgbClr val="FFFFFF"/>
                </a:solidFill>
                <a:latin typeface="TT Interphases"/>
                <a:ea typeface="TT Interphases"/>
                <a:cs typeface="TT Interphases"/>
                <a:sym typeface="TT Interphases"/>
              </a:rPr>
              <a:t>ROBUSTNESS</a:t>
            </a:r>
          </a:p>
        </p:txBody>
      </p:sp>
      <p:grpSp>
        <p:nvGrpSpPr>
          <p:cNvPr name="Group 5" id="5"/>
          <p:cNvGrpSpPr/>
          <p:nvPr/>
        </p:nvGrpSpPr>
        <p:grpSpPr>
          <a:xfrm rot="0">
            <a:off x="10890612" y="1100926"/>
            <a:ext cx="6368688" cy="4989488"/>
            <a:chOff x="0" y="0"/>
            <a:chExt cx="957333" cy="750013"/>
          </a:xfrm>
        </p:grpSpPr>
        <p:sp>
          <p:nvSpPr>
            <p:cNvPr name="Freeform 6" id="6"/>
            <p:cNvSpPr/>
            <p:nvPr/>
          </p:nvSpPr>
          <p:spPr>
            <a:xfrm flipH="false" flipV="false" rot="0">
              <a:off x="0" y="0"/>
              <a:ext cx="957333" cy="750013"/>
            </a:xfrm>
            <a:custGeom>
              <a:avLst/>
              <a:gdLst/>
              <a:ahLst/>
              <a:cxnLst/>
              <a:rect r="r" b="b" t="t" l="l"/>
              <a:pathLst>
                <a:path h="750013" w="957333">
                  <a:moveTo>
                    <a:pt x="65644" y="0"/>
                  </a:moveTo>
                  <a:lnTo>
                    <a:pt x="891689" y="0"/>
                  </a:lnTo>
                  <a:cubicBezTo>
                    <a:pt x="909099" y="0"/>
                    <a:pt x="925796" y="6916"/>
                    <a:pt x="938106" y="19227"/>
                  </a:cubicBezTo>
                  <a:cubicBezTo>
                    <a:pt x="950417" y="31537"/>
                    <a:pt x="957333" y="48234"/>
                    <a:pt x="957333" y="65644"/>
                  </a:cubicBezTo>
                  <a:lnTo>
                    <a:pt x="957333" y="684370"/>
                  </a:lnTo>
                  <a:cubicBezTo>
                    <a:pt x="957333" y="701779"/>
                    <a:pt x="950417" y="718476"/>
                    <a:pt x="938106" y="730787"/>
                  </a:cubicBezTo>
                  <a:cubicBezTo>
                    <a:pt x="925796" y="743097"/>
                    <a:pt x="909099" y="750013"/>
                    <a:pt x="891689" y="750013"/>
                  </a:cubicBezTo>
                  <a:lnTo>
                    <a:pt x="65644" y="750013"/>
                  </a:lnTo>
                  <a:cubicBezTo>
                    <a:pt x="48234" y="750013"/>
                    <a:pt x="31537" y="743097"/>
                    <a:pt x="19227" y="730787"/>
                  </a:cubicBezTo>
                  <a:cubicBezTo>
                    <a:pt x="6916" y="718476"/>
                    <a:pt x="0" y="701779"/>
                    <a:pt x="0" y="684370"/>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7" id="7"/>
            <p:cNvSpPr txBox="true"/>
            <p:nvPr/>
          </p:nvSpPr>
          <p:spPr>
            <a:xfrm>
              <a:off x="0" y="-38100"/>
              <a:ext cx="957333" cy="78811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890612" y="6802198"/>
            <a:ext cx="6368688" cy="3484802"/>
            <a:chOff x="0" y="0"/>
            <a:chExt cx="957333" cy="523831"/>
          </a:xfrm>
        </p:grpSpPr>
        <p:sp>
          <p:nvSpPr>
            <p:cNvPr name="Freeform 9" id="9"/>
            <p:cNvSpPr/>
            <p:nvPr/>
          </p:nvSpPr>
          <p:spPr>
            <a:xfrm flipH="false" flipV="false" rot="0">
              <a:off x="0" y="0"/>
              <a:ext cx="957333" cy="523831"/>
            </a:xfrm>
            <a:custGeom>
              <a:avLst/>
              <a:gdLst/>
              <a:ahLst/>
              <a:cxnLst/>
              <a:rect r="r" b="b" t="t" l="l"/>
              <a:pathLst>
                <a:path h="523831" w="957333">
                  <a:moveTo>
                    <a:pt x="65644" y="0"/>
                  </a:moveTo>
                  <a:lnTo>
                    <a:pt x="891689" y="0"/>
                  </a:lnTo>
                  <a:cubicBezTo>
                    <a:pt x="909099" y="0"/>
                    <a:pt x="925796" y="6916"/>
                    <a:pt x="938106" y="19227"/>
                  </a:cubicBezTo>
                  <a:cubicBezTo>
                    <a:pt x="950417" y="31537"/>
                    <a:pt x="957333" y="48234"/>
                    <a:pt x="957333" y="65644"/>
                  </a:cubicBezTo>
                  <a:lnTo>
                    <a:pt x="957333" y="458187"/>
                  </a:lnTo>
                  <a:cubicBezTo>
                    <a:pt x="957333" y="475597"/>
                    <a:pt x="950417" y="492294"/>
                    <a:pt x="938106" y="504604"/>
                  </a:cubicBezTo>
                  <a:cubicBezTo>
                    <a:pt x="925796" y="516915"/>
                    <a:pt x="909099" y="523831"/>
                    <a:pt x="891689" y="523831"/>
                  </a:cubicBezTo>
                  <a:lnTo>
                    <a:pt x="65644" y="523831"/>
                  </a:lnTo>
                  <a:cubicBezTo>
                    <a:pt x="48234" y="523831"/>
                    <a:pt x="31537" y="516915"/>
                    <a:pt x="19227" y="504604"/>
                  </a:cubicBezTo>
                  <a:cubicBezTo>
                    <a:pt x="6916" y="492294"/>
                    <a:pt x="0" y="475597"/>
                    <a:pt x="0" y="458187"/>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10" id="10"/>
            <p:cNvSpPr txBox="true"/>
            <p:nvPr/>
          </p:nvSpPr>
          <p:spPr>
            <a:xfrm>
              <a:off x="0" y="-38100"/>
              <a:ext cx="957333" cy="56193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8922632" y="3905135"/>
            <a:ext cx="6049421" cy="2592263"/>
            <a:chOff x="0" y="0"/>
            <a:chExt cx="909341" cy="389666"/>
          </a:xfrm>
        </p:grpSpPr>
        <p:sp>
          <p:nvSpPr>
            <p:cNvPr name="Freeform 12" id="12"/>
            <p:cNvSpPr/>
            <p:nvPr/>
          </p:nvSpPr>
          <p:spPr>
            <a:xfrm flipH="false" flipV="false" rot="0">
              <a:off x="0" y="0"/>
              <a:ext cx="909341" cy="389666"/>
            </a:xfrm>
            <a:custGeom>
              <a:avLst/>
              <a:gdLst/>
              <a:ahLst/>
              <a:cxnLst/>
              <a:rect r="r" b="b" t="t" l="l"/>
              <a:pathLst>
                <a:path h="389666" w="909341">
                  <a:moveTo>
                    <a:pt x="69108" y="0"/>
                  </a:moveTo>
                  <a:lnTo>
                    <a:pt x="840233" y="0"/>
                  </a:lnTo>
                  <a:cubicBezTo>
                    <a:pt x="878400" y="0"/>
                    <a:pt x="909341" y="30941"/>
                    <a:pt x="909341" y="69108"/>
                  </a:cubicBezTo>
                  <a:lnTo>
                    <a:pt x="909341" y="320558"/>
                  </a:lnTo>
                  <a:cubicBezTo>
                    <a:pt x="909341" y="338886"/>
                    <a:pt x="902060" y="356464"/>
                    <a:pt x="889100" y="369424"/>
                  </a:cubicBezTo>
                  <a:cubicBezTo>
                    <a:pt x="876140" y="382385"/>
                    <a:pt x="858562" y="389666"/>
                    <a:pt x="840233" y="389666"/>
                  </a:cubicBezTo>
                  <a:lnTo>
                    <a:pt x="69108" y="389666"/>
                  </a:lnTo>
                  <a:cubicBezTo>
                    <a:pt x="50779" y="389666"/>
                    <a:pt x="33202" y="382385"/>
                    <a:pt x="20241" y="369424"/>
                  </a:cubicBezTo>
                  <a:cubicBezTo>
                    <a:pt x="7281" y="356464"/>
                    <a:pt x="0" y="338886"/>
                    <a:pt x="0" y="320558"/>
                  </a:cubicBezTo>
                  <a:lnTo>
                    <a:pt x="0" y="69108"/>
                  </a:lnTo>
                  <a:cubicBezTo>
                    <a:pt x="0" y="50779"/>
                    <a:pt x="7281" y="33202"/>
                    <a:pt x="20241" y="20241"/>
                  </a:cubicBezTo>
                  <a:cubicBezTo>
                    <a:pt x="33202" y="7281"/>
                    <a:pt x="50779" y="0"/>
                    <a:pt x="69108" y="0"/>
                  </a:cubicBezTo>
                  <a:close/>
                </a:path>
              </a:pathLst>
            </a:custGeom>
            <a:solidFill>
              <a:srgbClr val="F9F9F9"/>
            </a:solidFill>
            <a:ln w="9525" cap="rnd">
              <a:solidFill>
                <a:srgbClr val="F2FFF2"/>
              </a:solidFill>
              <a:prstDash val="solid"/>
              <a:round/>
            </a:ln>
          </p:spPr>
        </p:sp>
        <p:sp>
          <p:nvSpPr>
            <p:cNvPr name="TextBox 13" id="13"/>
            <p:cNvSpPr txBox="true"/>
            <p:nvPr/>
          </p:nvSpPr>
          <p:spPr>
            <a:xfrm>
              <a:off x="0" y="-38100"/>
              <a:ext cx="909341" cy="42776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1144385" y="1300173"/>
            <a:ext cx="1846255" cy="2163278"/>
            <a:chOff x="0" y="0"/>
            <a:chExt cx="636131" cy="745363"/>
          </a:xfrm>
        </p:grpSpPr>
        <p:sp>
          <p:nvSpPr>
            <p:cNvPr name="Freeform 15" id="15"/>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4"/>
              <a:stretch>
                <a:fillRect l="0" t="-55" r="0" b="-55"/>
              </a:stretch>
            </a:blipFill>
            <a:ln w="9525" cap="rnd">
              <a:solidFill>
                <a:srgbClr val="F9F9F9"/>
              </a:solidFill>
              <a:prstDash val="solid"/>
              <a:round/>
            </a:ln>
          </p:spPr>
        </p:sp>
      </p:grpSp>
      <p:grpSp>
        <p:nvGrpSpPr>
          <p:cNvPr name="Group 16" id="16"/>
          <p:cNvGrpSpPr/>
          <p:nvPr/>
        </p:nvGrpSpPr>
        <p:grpSpPr>
          <a:xfrm rot="0">
            <a:off x="9133859" y="4107755"/>
            <a:ext cx="1846255" cy="2163278"/>
            <a:chOff x="0" y="0"/>
            <a:chExt cx="636131" cy="745363"/>
          </a:xfrm>
        </p:grpSpPr>
        <p:sp>
          <p:nvSpPr>
            <p:cNvPr name="Freeform 17" id="17"/>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5"/>
              <a:stretch>
                <a:fillRect l="0" t="-55" r="0" b="-55"/>
              </a:stretch>
            </a:blipFill>
            <a:ln w="9525" cap="rnd">
              <a:solidFill>
                <a:srgbClr val="F9F9F9"/>
              </a:solidFill>
              <a:prstDash val="solid"/>
              <a:round/>
            </a:ln>
          </p:spPr>
        </p:sp>
      </p:grpSp>
      <p:grpSp>
        <p:nvGrpSpPr>
          <p:cNvPr name="Group 18" id="18"/>
          <p:cNvGrpSpPr/>
          <p:nvPr/>
        </p:nvGrpSpPr>
        <p:grpSpPr>
          <a:xfrm rot="0">
            <a:off x="11144385" y="7063319"/>
            <a:ext cx="1846255" cy="2163278"/>
            <a:chOff x="0" y="0"/>
            <a:chExt cx="636131" cy="745363"/>
          </a:xfrm>
        </p:grpSpPr>
        <p:sp>
          <p:nvSpPr>
            <p:cNvPr name="Freeform 19" id="19"/>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6"/>
              <a:stretch>
                <a:fillRect l="0" t="-55" r="0" b="-55"/>
              </a:stretch>
            </a:blipFill>
            <a:ln w="9525" cap="rnd">
              <a:solidFill>
                <a:srgbClr val="F9F9F9"/>
              </a:solidFill>
              <a:prstDash val="solid"/>
              <a:round/>
            </a:ln>
          </p:spPr>
        </p:sp>
      </p:grpSp>
      <p:sp>
        <p:nvSpPr>
          <p:cNvPr name="TextBox 20" id="20"/>
          <p:cNvSpPr txBox="true"/>
          <p:nvPr/>
        </p:nvSpPr>
        <p:spPr>
          <a:xfrm rot="0">
            <a:off x="1028700" y="7291752"/>
            <a:ext cx="8333124" cy="1934427"/>
          </a:xfrm>
          <a:prstGeom prst="rect">
            <a:avLst/>
          </a:prstGeom>
        </p:spPr>
        <p:txBody>
          <a:bodyPr anchor="t" rtlCol="false" tIns="0" lIns="0" bIns="0" rIns="0">
            <a:spAutoFit/>
          </a:bodyPr>
          <a:lstStyle/>
          <a:p>
            <a:pPr algn="l" marL="0" indent="0" lvl="0">
              <a:lnSpc>
                <a:spcPts val="2578"/>
              </a:lnSpc>
            </a:pPr>
            <a:r>
              <a:rPr lang="en-US" sz="1841" i="true" spc="-116">
                <a:solidFill>
                  <a:srgbClr val="F9F9F9"/>
                </a:solidFill>
                <a:latin typeface="Public Sans Light Italics"/>
                <a:ea typeface="Public Sans Light Italics"/>
                <a:cs typeface="Public Sans Light Italics"/>
                <a:sym typeface="Public Sans Light Italics"/>
              </a:rPr>
              <a:t>The model was evaluated under three real-world perturbation conditions: JPEG compression artifacts, spatial downscaling, and random pixel dropout. Accuracy degraded gracefully under moderate compression and downscaling, demonstrating robustness to common transmission artifacts. However, heavy random pixel dropout caused accuracy to fall to near-chance levels, indicating sensitivity to severe spatial corruption. These findings closely match the robustness patterns reported in the original ISTVT paper.</a:t>
            </a:r>
          </a:p>
        </p:txBody>
      </p:sp>
      <p:sp>
        <p:nvSpPr>
          <p:cNvPr name="TextBox 21" id="21"/>
          <p:cNvSpPr txBox="true"/>
          <p:nvPr/>
        </p:nvSpPr>
        <p:spPr>
          <a:xfrm rot="0">
            <a:off x="13863329" y="1754107"/>
            <a:ext cx="3029636" cy="548743"/>
          </a:xfrm>
          <a:prstGeom prst="rect">
            <a:avLst/>
          </a:prstGeom>
        </p:spPr>
        <p:txBody>
          <a:bodyPr anchor="t" rtlCol="false" tIns="0" lIns="0" bIns="0" rIns="0">
            <a:spAutoFit/>
          </a:bodyPr>
          <a:lstStyle/>
          <a:p>
            <a:pPr algn="l" marL="0" indent="0" lvl="0">
              <a:lnSpc>
                <a:spcPts val="4451"/>
              </a:lnSpc>
            </a:pPr>
            <a:r>
              <a:rPr lang="en-US" sz="3179" spc="-235">
                <a:solidFill>
                  <a:srgbClr val="F9F9F9"/>
                </a:solidFill>
                <a:latin typeface="Public Sans"/>
                <a:ea typeface="Public Sans"/>
                <a:cs typeface="Public Sans"/>
                <a:sym typeface="Public Sans"/>
              </a:rPr>
              <a:t>JPEG Compression</a:t>
            </a:r>
          </a:p>
        </p:txBody>
      </p:sp>
      <p:sp>
        <p:nvSpPr>
          <p:cNvPr name="TextBox 22" id="22"/>
          <p:cNvSpPr txBox="true"/>
          <p:nvPr/>
        </p:nvSpPr>
        <p:spPr>
          <a:xfrm rot="0">
            <a:off x="11717111" y="4568760"/>
            <a:ext cx="3029636" cy="548743"/>
          </a:xfrm>
          <a:prstGeom prst="rect">
            <a:avLst/>
          </a:prstGeom>
        </p:spPr>
        <p:txBody>
          <a:bodyPr anchor="t" rtlCol="false" tIns="0" lIns="0" bIns="0" rIns="0">
            <a:spAutoFit/>
          </a:bodyPr>
          <a:lstStyle/>
          <a:p>
            <a:pPr algn="l" marL="0" indent="0" lvl="0">
              <a:lnSpc>
                <a:spcPts val="4451"/>
              </a:lnSpc>
            </a:pPr>
            <a:r>
              <a:rPr lang="en-US" sz="3179" spc="-235">
                <a:solidFill>
                  <a:srgbClr val="000000"/>
                </a:solidFill>
                <a:latin typeface="Public Sans"/>
                <a:ea typeface="Public Sans"/>
                <a:cs typeface="Public Sans"/>
                <a:sym typeface="Public Sans"/>
              </a:rPr>
              <a:t>Downscaling</a:t>
            </a:r>
          </a:p>
        </p:txBody>
      </p:sp>
      <p:sp>
        <p:nvSpPr>
          <p:cNvPr name="TextBox 23" id="23"/>
          <p:cNvSpPr txBox="true"/>
          <p:nvPr/>
        </p:nvSpPr>
        <p:spPr>
          <a:xfrm rot="0">
            <a:off x="13863329" y="2315016"/>
            <a:ext cx="2520710" cy="295489"/>
          </a:xfrm>
          <a:prstGeom prst="rect">
            <a:avLst/>
          </a:prstGeom>
        </p:spPr>
        <p:txBody>
          <a:bodyPr anchor="t" rtlCol="false" tIns="0" lIns="0" bIns="0" rIns="0">
            <a:spAutoFit/>
          </a:bodyPr>
          <a:lstStyle/>
          <a:p>
            <a:pPr algn="l" marL="0" indent="0" lvl="0">
              <a:lnSpc>
                <a:spcPts val="2371"/>
              </a:lnSpc>
            </a:pPr>
            <a:r>
              <a:rPr lang="en-US" sz="1694" spc="-125">
                <a:solidFill>
                  <a:srgbClr val="F9F9F9"/>
                </a:solidFill>
                <a:latin typeface="Public Sans"/>
                <a:ea typeface="Public Sans"/>
                <a:cs typeface="Public Sans"/>
                <a:sym typeface="Public Sans"/>
              </a:rPr>
              <a:t>Graceful Degradation</a:t>
            </a:r>
          </a:p>
        </p:txBody>
      </p:sp>
      <p:sp>
        <p:nvSpPr>
          <p:cNvPr name="TextBox 24" id="24"/>
          <p:cNvSpPr txBox="true"/>
          <p:nvPr/>
        </p:nvSpPr>
        <p:spPr>
          <a:xfrm rot="0">
            <a:off x="11717111" y="5140068"/>
            <a:ext cx="2520710" cy="295489"/>
          </a:xfrm>
          <a:prstGeom prst="rect">
            <a:avLst/>
          </a:prstGeom>
        </p:spPr>
        <p:txBody>
          <a:bodyPr anchor="t" rtlCol="false" tIns="0" lIns="0" bIns="0" rIns="0">
            <a:spAutoFit/>
          </a:bodyPr>
          <a:lstStyle/>
          <a:p>
            <a:pPr algn="l" marL="0" indent="0" lvl="0">
              <a:lnSpc>
                <a:spcPts val="2371"/>
              </a:lnSpc>
            </a:pPr>
            <a:r>
              <a:rPr lang="en-US" sz="1694" spc="-125">
                <a:solidFill>
                  <a:srgbClr val="000000"/>
                </a:solidFill>
                <a:latin typeface="Public Sans"/>
                <a:ea typeface="Public Sans"/>
                <a:cs typeface="Public Sans"/>
                <a:sym typeface="Public Sans"/>
              </a:rPr>
              <a:t>Moderate Resilience</a:t>
            </a:r>
          </a:p>
        </p:txBody>
      </p:sp>
      <p:sp>
        <p:nvSpPr>
          <p:cNvPr name="TextBox 25" id="25"/>
          <p:cNvSpPr txBox="true"/>
          <p:nvPr/>
        </p:nvSpPr>
        <p:spPr>
          <a:xfrm rot="0">
            <a:off x="13863329" y="2632993"/>
            <a:ext cx="2217449" cy="238065"/>
          </a:xfrm>
          <a:prstGeom prst="rect">
            <a:avLst/>
          </a:prstGeom>
        </p:spPr>
        <p:txBody>
          <a:bodyPr anchor="t" rtlCol="false" tIns="0" lIns="0" bIns="0" rIns="0">
            <a:spAutoFit/>
          </a:bodyPr>
          <a:lstStyle/>
          <a:p>
            <a:pPr algn="l" marL="0" indent="0" lvl="0">
              <a:lnSpc>
                <a:spcPts val="1934"/>
              </a:lnSpc>
            </a:pPr>
            <a:r>
              <a:rPr lang="en-US" sz="1381" spc="-102">
                <a:solidFill>
                  <a:srgbClr val="F9F9F9"/>
                </a:solidFill>
                <a:latin typeface="Public Sans"/>
                <a:ea typeface="Public Sans"/>
                <a:cs typeface="Public Sans"/>
                <a:sym typeface="Public Sans"/>
              </a:rPr>
              <a:t>Perturbation Type</a:t>
            </a:r>
          </a:p>
        </p:txBody>
      </p:sp>
      <p:sp>
        <p:nvSpPr>
          <p:cNvPr name="TextBox 26" id="26"/>
          <p:cNvSpPr txBox="true"/>
          <p:nvPr/>
        </p:nvSpPr>
        <p:spPr>
          <a:xfrm rot="0">
            <a:off x="11717111" y="5458045"/>
            <a:ext cx="2217449" cy="238065"/>
          </a:xfrm>
          <a:prstGeom prst="rect">
            <a:avLst/>
          </a:prstGeom>
        </p:spPr>
        <p:txBody>
          <a:bodyPr anchor="t" rtlCol="false" tIns="0" lIns="0" bIns="0" rIns="0">
            <a:spAutoFit/>
          </a:bodyPr>
          <a:lstStyle/>
          <a:p>
            <a:pPr algn="l" marL="0" indent="0" lvl="0">
              <a:lnSpc>
                <a:spcPts val="1934"/>
              </a:lnSpc>
            </a:pPr>
            <a:r>
              <a:rPr lang="en-US" sz="1381" spc="-102">
                <a:solidFill>
                  <a:srgbClr val="000000"/>
                </a:solidFill>
                <a:latin typeface="Public Sans"/>
                <a:ea typeface="Public Sans"/>
                <a:cs typeface="Public Sans"/>
                <a:sym typeface="Public Sans"/>
              </a:rPr>
              <a:t>Perturbation Type</a:t>
            </a:r>
          </a:p>
        </p:txBody>
      </p:sp>
      <p:sp>
        <p:nvSpPr>
          <p:cNvPr name="TextBox 27" id="27"/>
          <p:cNvSpPr txBox="true"/>
          <p:nvPr/>
        </p:nvSpPr>
        <p:spPr>
          <a:xfrm rot="0">
            <a:off x="13863329" y="7552194"/>
            <a:ext cx="3029636" cy="548743"/>
          </a:xfrm>
          <a:prstGeom prst="rect">
            <a:avLst/>
          </a:prstGeom>
        </p:spPr>
        <p:txBody>
          <a:bodyPr anchor="t" rtlCol="false" tIns="0" lIns="0" bIns="0" rIns="0">
            <a:spAutoFit/>
          </a:bodyPr>
          <a:lstStyle/>
          <a:p>
            <a:pPr algn="l" marL="0" indent="0" lvl="0">
              <a:lnSpc>
                <a:spcPts val="4451"/>
              </a:lnSpc>
            </a:pPr>
            <a:r>
              <a:rPr lang="en-US" sz="3179" spc="-235">
                <a:solidFill>
                  <a:srgbClr val="F9F9F9"/>
                </a:solidFill>
                <a:latin typeface="Public Sans"/>
                <a:ea typeface="Public Sans"/>
                <a:cs typeface="Public Sans"/>
                <a:sym typeface="Public Sans"/>
              </a:rPr>
              <a:t>Pixel Dropout</a:t>
            </a:r>
          </a:p>
        </p:txBody>
      </p:sp>
      <p:sp>
        <p:nvSpPr>
          <p:cNvPr name="TextBox 28" id="28"/>
          <p:cNvSpPr txBox="true"/>
          <p:nvPr/>
        </p:nvSpPr>
        <p:spPr>
          <a:xfrm rot="0">
            <a:off x="13863329" y="8113103"/>
            <a:ext cx="2520710" cy="295489"/>
          </a:xfrm>
          <a:prstGeom prst="rect">
            <a:avLst/>
          </a:prstGeom>
        </p:spPr>
        <p:txBody>
          <a:bodyPr anchor="t" rtlCol="false" tIns="0" lIns="0" bIns="0" rIns="0">
            <a:spAutoFit/>
          </a:bodyPr>
          <a:lstStyle/>
          <a:p>
            <a:pPr algn="l" marL="0" indent="0" lvl="0">
              <a:lnSpc>
                <a:spcPts val="2371"/>
              </a:lnSpc>
            </a:pPr>
            <a:r>
              <a:rPr lang="en-US" sz="1694" spc="-125">
                <a:solidFill>
                  <a:srgbClr val="F9F9F9"/>
                </a:solidFill>
                <a:latin typeface="Public Sans"/>
                <a:ea typeface="Public Sans"/>
                <a:cs typeface="Public Sans"/>
                <a:sym typeface="Public Sans"/>
              </a:rPr>
              <a:t>Drops to Chance</a:t>
            </a:r>
          </a:p>
        </p:txBody>
      </p:sp>
      <p:sp>
        <p:nvSpPr>
          <p:cNvPr name="TextBox 29" id="29"/>
          <p:cNvSpPr txBox="true"/>
          <p:nvPr/>
        </p:nvSpPr>
        <p:spPr>
          <a:xfrm rot="0">
            <a:off x="13863329" y="8431080"/>
            <a:ext cx="2217449" cy="238065"/>
          </a:xfrm>
          <a:prstGeom prst="rect">
            <a:avLst/>
          </a:prstGeom>
        </p:spPr>
        <p:txBody>
          <a:bodyPr anchor="t" rtlCol="false" tIns="0" lIns="0" bIns="0" rIns="0">
            <a:spAutoFit/>
          </a:bodyPr>
          <a:lstStyle/>
          <a:p>
            <a:pPr algn="l" marL="0" indent="0" lvl="0">
              <a:lnSpc>
                <a:spcPts val="1934"/>
              </a:lnSpc>
            </a:pPr>
            <a:r>
              <a:rPr lang="en-US" sz="1381" spc="-102">
                <a:solidFill>
                  <a:srgbClr val="F9F9F9"/>
                </a:solidFill>
                <a:latin typeface="Public Sans"/>
                <a:ea typeface="Public Sans"/>
                <a:cs typeface="Public Sans"/>
                <a:sym typeface="Public Sans"/>
              </a:rPr>
              <a:t>Perturbation Type</a:t>
            </a:r>
          </a:p>
        </p:txBody>
      </p:sp>
      <p:sp>
        <p:nvSpPr>
          <p:cNvPr name="TextBox 30" id="30"/>
          <p:cNvSpPr txBox="true"/>
          <p:nvPr/>
        </p:nvSpPr>
        <p:spPr>
          <a:xfrm rot="0">
            <a:off x="682573" y="3857521"/>
            <a:ext cx="3701509" cy="777914"/>
          </a:xfrm>
          <a:prstGeom prst="rect">
            <a:avLst/>
          </a:prstGeom>
        </p:spPr>
        <p:txBody>
          <a:bodyPr anchor="t" rtlCol="false" tIns="0" lIns="0" bIns="0" rIns="0">
            <a:spAutoFit/>
          </a:bodyPr>
          <a:lstStyle/>
          <a:p>
            <a:pPr algn="l" marL="0" indent="0" lvl="0">
              <a:lnSpc>
                <a:spcPts val="6391"/>
              </a:lnSpc>
            </a:pPr>
            <a:r>
              <a:rPr lang="en-US" sz="4565" spc="-337">
                <a:solidFill>
                  <a:srgbClr val="F9F9F9"/>
                </a:solidFill>
                <a:latin typeface="Public Sans"/>
                <a:ea typeface="Public Sans"/>
                <a:cs typeface="Public Sans"/>
                <a:sym typeface="Public Sans"/>
              </a:rPr>
              <a:t>Key Findings</a:t>
            </a:r>
          </a:p>
        </p:txBody>
      </p:sp>
      <p:sp>
        <p:nvSpPr>
          <p:cNvPr name="TextBox 31" id="31"/>
          <p:cNvSpPr txBox="true"/>
          <p:nvPr/>
        </p:nvSpPr>
        <p:spPr>
          <a:xfrm rot="0">
            <a:off x="3954748" y="4727654"/>
            <a:ext cx="4234459" cy="962877"/>
          </a:xfrm>
          <a:prstGeom prst="rect">
            <a:avLst/>
          </a:prstGeom>
        </p:spPr>
        <p:txBody>
          <a:bodyPr anchor="t" rtlCol="false" tIns="0" lIns="0" bIns="0" rIns="0">
            <a:spAutoFit/>
          </a:bodyPr>
          <a:lstStyle/>
          <a:p>
            <a:pPr algn="l" marL="0" indent="0" lvl="0">
              <a:lnSpc>
                <a:spcPts val="2578"/>
              </a:lnSpc>
            </a:pPr>
            <a:r>
              <a:rPr lang="en-US" sz="1841" spc="-136">
                <a:solidFill>
                  <a:srgbClr val="F9F9F9"/>
                </a:solidFill>
                <a:latin typeface="Public Sans"/>
                <a:ea typeface="Public Sans"/>
                <a:cs typeface="Public Sans"/>
                <a:sym typeface="Public Sans"/>
              </a:rPr>
              <a:t>Tested against 3 real-world distortions</a:t>
            </a:r>
          </a:p>
          <a:p>
            <a:pPr algn="l" marL="0" indent="0" lvl="0">
              <a:lnSpc>
                <a:spcPts val="2578"/>
              </a:lnSpc>
            </a:pPr>
            <a:r>
              <a:rPr lang="en-US" sz="1841" spc="-136">
                <a:solidFill>
                  <a:srgbClr val="F9F9F9"/>
                </a:solidFill>
                <a:latin typeface="Public Sans"/>
                <a:ea typeface="Public Sans"/>
                <a:cs typeface="Public Sans"/>
                <a:sym typeface="Public Sans"/>
              </a:rPr>
              <a:t>Graceful accuracy drop under moderate noise</a:t>
            </a:r>
          </a:p>
          <a:p>
            <a:pPr algn="l" marL="0" indent="0" lvl="0">
              <a:lnSpc>
                <a:spcPts val="2578"/>
              </a:lnSpc>
            </a:pPr>
            <a:r>
              <a:rPr lang="en-US" sz="1841" spc="-136">
                <a:solidFill>
                  <a:srgbClr val="F9F9F9"/>
                </a:solidFill>
                <a:latin typeface="Public Sans"/>
                <a:ea typeface="Public Sans"/>
                <a:cs typeface="Public Sans"/>
                <a:sym typeface="Public Sans"/>
              </a:rPr>
              <a:t>Heavy dropout degrades to chance level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sp>
        <p:nvSpPr>
          <p:cNvPr name="Freeform 3" id="3"/>
          <p:cNvSpPr/>
          <p:nvPr/>
        </p:nvSpPr>
        <p:spPr>
          <a:xfrm flipH="false" flipV="false" rot="0">
            <a:off x="0" y="1408229"/>
            <a:ext cx="18288000" cy="1955360"/>
          </a:xfrm>
          <a:custGeom>
            <a:avLst/>
            <a:gdLst/>
            <a:ahLst/>
            <a:cxnLst/>
            <a:rect r="r" b="b" t="t" l="l"/>
            <a:pathLst>
              <a:path h="1955360" w="18288000">
                <a:moveTo>
                  <a:pt x="0" y="0"/>
                </a:moveTo>
                <a:lnTo>
                  <a:pt x="18288000" y="0"/>
                </a:lnTo>
                <a:lnTo>
                  <a:pt x="18288000" y="1955360"/>
                </a:lnTo>
                <a:lnTo>
                  <a:pt x="0" y="1955360"/>
                </a:lnTo>
                <a:lnTo>
                  <a:pt x="0" y="0"/>
                </a:lnTo>
                <a:close/>
              </a:path>
            </a:pathLst>
          </a:custGeom>
          <a:blipFill>
            <a:blip r:embed="rId3">
              <a:alphaModFix amt="70000"/>
            </a:blip>
            <a:stretch>
              <a:fillRect l="-61654" t="-100395" r="0" b="-808461"/>
            </a:stretch>
          </a:blipFill>
        </p:spPr>
      </p:sp>
      <p:sp>
        <p:nvSpPr>
          <p:cNvPr name="TextBox 4" id="4"/>
          <p:cNvSpPr txBox="true"/>
          <p:nvPr/>
        </p:nvSpPr>
        <p:spPr>
          <a:xfrm rot="0">
            <a:off x="1127148" y="1655879"/>
            <a:ext cx="16033705" cy="1035541"/>
          </a:xfrm>
          <a:prstGeom prst="rect">
            <a:avLst/>
          </a:prstGeom>
        </p:spPr>
        <p:txBody>
          <a:bodyPr anchor="t" rtlCol="false" tIns="0" lIns="0" bIns="0" rIns="0">
            <a:spAutoFit/>
          </a:bodyPr>
          <a:lstStyle/>
          <a:p>
            <a:pPr algn="ctr" marL="0" indent="0" lvl="0">
              <a:lnSpc>
                <a:spcPts val="7586"/>
              </a:lnSpc>
            </a:pPr>
            <a:r>
              <a:rPr lang="en-US" sz="8429" spc="-505">
                <a:solidFill>
                  <a:srgbClr val="FFFFFF"/>
                </a:solidFill>
                <a:latin typeface="TT Interphases"/>
                <a:ea typeface="TT Interphases"/>
                <a:cs typeface="TT Interphases"/>
                <a:sym typeface="TT Interphases"/>
              </a:rPr>
              <a:t>WHAT WE BUILT BUT DID NOT FINISH</a:t>
            </a:r>
          </a:p>
        </p:txBody>
      </p:sp>
      <p:grpSp>
        <p:nvGrpSpPr>
          <p:cNvPr name="Group 5" id="5"/>
          <p:cNvGrpSpPr/>
          <p:nvPr/>
        </p:nvGrpSpPr>
        <p:grpSpPr>
          <a:xfrm rot="0">
            <a:off x="1033462" y="4522607"/>
            <a:ext cx="16225838" cy="4114800"/>
            <a:chOff x="0" y="0"/>
            <a:chExt cx="2403603" cy="609543"/>
          </a:xfrm>
        </p:grpSpPr>
        <p:sp>
          <p:nvSpPr>
            <p:cNvPr name="Freeform 6" id="6"/>
            <p:cNvSpPr/>
            <p:nvPr/>
          </p:nvSpPr>
          <p:spPr>
            <a:xfrm flipH="false" flipV="false" rot="0">
              <a:off x="0" y="0"/>
              <a:ext cx="2403603" cy="609543"/>
            </a:xfrm>
            <a:custGeom>
              <a:avLst/>
              <a:gdLst/>
              <a:ahLst/>
              <a:cxnLst/>
              <a:rect r="r" b="b" t="t" l="l"/>
              <a:pathLst>
                <a:path h="609543" w="2403603">
                  <a:moveTo>
                    <a:pt x="17177" y="0"/>
                  </a:moveTo>
                  <a:lnTo>
                    <a:pt x="2386426" y="0"/>
                  </a:lnTo>
                  <a:cubicBezTo>
                    <a:pt x="2395913" y="0"/>
                    <a:pt x="2403603" y="7690"/>
                    <a:pt x="2403603" y="17177"/>
                  </a:cubicBezTo>
                  <a:lnTo>
                    <a:pt x="2403603" y="592366"/>
                  </a:lnTo>
                  <a:cubicBezTo>
                    <a:pt x="2403603" y="596922"/>
                    <a:pt x="2401793" y="601291"/>
                    <a:pt x="2398572" y="604512"/>
                  </a:cubicBezTo>
                  <a:cubicBezTo>
                    <a:pt x="2395351" y="607733"/>
                    <a:pt x="2390982" y="609543"/>
                    <a:pt x="2386426" y="609543"/>
                  </a:cubicBezTo>
                  <a:lnTo>
                    <a:pt x="17177" y="609543"/>
                  </a:lnTo>
                  <a:cubicBezTo>
                    <a:pt x="7690" y="609543"/>
                    <a:pt x="0" y="601853"/>
                    <a:pt x="0" y="592366"/>
                  </a:cubicBezTo>
                  <a:lnTo>
                    <a:pt x="0" y="17177"/>
                  </a:lnTo>
                  <a:cubicBezTo>
                    <a:pt x="0" y="7690"/>
                    <a:pt x="7690" y="0"/>
                    <a:pt x="17177"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FFFFF"/>
              </a:solidFill>
              <a:prstDash val="solid"/>
              <a:round/>
            </a:ln>
          </p:spPr>
        </p:sp>
        <p:sp>
          <p:nvSpPr>
            <p:cNvPr name="TextBox 7" id="7"/>
            <p:cNvSpPr txBox="true"/>
            <p:nvPr/>
          </p:nvSpPr>
          <p:spPr>
            <a:xfrm>
              <a:off x="0" y="352425"/>
              <a:ext cx="2403603" cy="257118"/>
            </a:xfrm>
            <a:prstGeom prst="rect">
              <a:avLst/>
            </a:prstGeom>
          </p:spPr>
          <p:txBody>
            <a:bodyPr anchor="ctr" rtlCol="false" tIns="50800" lIns="50800" bIns="50800" rIns="50800"/>
            <a:lstStyle/>
            <a:p>
              <a:pPr algn="l" marL="0" indent="0" lvl="0">
                <a:lnSpc>
                  <a:spcPts val="10823"/>
                </a:lnSpc>
                <a:spcBef>
                  <a:spcPct val="0"/>
                </a:spcBef>
              </a:pPr>
            </a:p>
          </p:txBody>
        </p:sp>
      </p:grpSp>
      <p:grpSp>
        <p:nvGrpSpPr>
          <p:cNvPr name="Group 8" id="8"/>
          <p:cNvGrpSpPr/>
          <p:nvPr/>
        </p:nvGrpSpPr>
        <p:grpSpPr>
          <a:xfrm rot="0">
            <a:off x="1518764" y="4050007"/>
            <a:ext cx="4919969" cy="945199"/>
            <a:chOff x="0" y="0"/>
            <a:chExt cx="728816" cy="140016"/>
          </a:xfrm>
        </p:grpSpPr>
        <p:sp>
          <p:nvSpPr>
            <p:cNvPr name="Freeform 9" id="9"/>
            <p:cNvSpPr/>
            <p:nvPr/>
          </p:nvSpPr>
          <p:spPr>
            <a:xfrm flipH="false" flipV="false" rot="0">
              <a:off x="0" y="0"/>
              <a:ext cx="728816" cy="140016"/>
            </a:xfrm>
            <a:custGeom>
              <a:avLst/>
              <a:gdLst/>
              <a:ahLst/>
              <a:cxnLst/>
              <a:rect r="r" b="b" t="t" l="l"/>
              <a:pathLst>
                <a:path h="140016" w="728816">
                  <a:moveTo>
                    <a:pt x="42486" y="0"/>
                  </a:moveTo>
                  <a:lnTo>
                    <a:pt x="686330" y="0"/>
                  </a:lnTo>
                  <a:cubicBezTo>
                    <a:pt x="697598" y="0"/>
                    <a:pt x="708404" y="4476"/>
                    <a:pt x="716372" y="12444"/>
                  </a:cubicBezTo>
                  <a:cubicBezTo>
                    <a:pt x="724340" y="20412"/>
                    <a:pt x="728816" y="31218"/>
                    <a:pt x="728816" y="42486"/>
                  </a:cubicBezTo>
                  <a:lnTo>
                    <a:pt x="728816" y="97530"/>
                  </a:lnTo>
                  <a:cubicBezTo>
                    <a:pt x="728816" y="108798"/>
                    <a:pt x="724340" y="119605"/>
                    <a:pt x="716372" y="127572"/>
                  </a:cubicBezTo>
                  <a:cubicBezTo>
                    <a:pt x="708404" y="135540"/>
                    <a:pt x="697598" y="140016"/>
                    <a:pt x="686330" y="140016"/>
                  </a:cubicBezTo>
                  <a:lnTo>
                    <a:pt x="42486" y="140016"/>
                  </a:lnTo>
                  <a:cubicBezTo>
                    <a:pt x="31218" y="140016"/>
                    <a:pt x="20412" y="135540"/>
                    <a:pt x="12444" y="127572"/>
                  </a:cubicBezTo>
                  <a:cubicBezTo>
                    <a:pt x="4476" y="119605"/>
                    <a:pt x="0" y="108798"/>
                    <a:pt x="0" y="97530"/>
                  </a:cubicBezTo>
                  <a:lnTo>
                    <a:pt x="0" y="42486"/>
                  </a:lnTo>
                  <a:cubicBezTo>
                    <a:pt x="0" y="31218"/>
                    <a:pt x="4476" y="20412"/>
                    <a:pt x="12444" y="12444"/>
                  </a:cubicBezTo>
                  <a:cubicBezTo>
                    <a:pt x="20412" y="4476"/>
                    <a:pt x="31218" y="0"/>
                    <a:pt x="42486"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10" id="10"/>
            <p:cNvSpPr txBox="true"/>
            <p:nvPr/>
          </p:nvSpPr>
          <p:spPr>
            <a:xfrm>
              <a:off x="0" y="-38100"/>
              <a:ext cx="728816" cy="17811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6684016" y="4050007"/>
            <a:ext cx="4919969" cy="945199"/>
            <a:chOff x="0" y="0"/>
            <a:chExt cx="728816" cy="140016"/>
          </a:xfrm>
        </p:grpSpPr>
        <p:sp>
          <p:nvSpPr>
            <p:cNvPr name="Freeform 12" id="12"/>
            <p:cNvSpPr/>
            <p:nvPr/>
          </p:nvSpPr>
          <p:spPr>
            <a:xfrm flipH="false" flipV="false" rot="0">
              <a:off x="0" y="0"/>
              <a:ext cx="728816" cy="140016"/>
            </a:xfrm>
            <a:custGeom>
              <a:avLst/>
              <a:gdLst/>
              <a:ahLst/>
              <a:cxnLst/>
              <a:rect r="r" b="b" t="t" l="l"/>
              <a:pathLst>
                <a:path h="140016" w="728816">
                  <a:moveTo>
                    <a:pt x="42486" y="0"/>
                  </a:moveTo>
                  <a:lnTo>
                    <a:pt x="686330" y="0"/>
                  </a:lnTo>
                  <a:cubicBezTo>
                    <a:pt x="697598" y="0"/>
                    <a:pt x="708404" y="4476"/>
                    <a:pt x="716372" y="12444"/>
                  </a:cubicBezTo>
                  <a:cubicBezTo>
                    <a:pt x="724340" y="20412"/>
                    <a:pt x="728816" y="31218"/>
                    <a:pt x="728816" y="42486"/>
                  </a:cubicBezTo>
                  <a:lnTo>
                    <a:pt x="728816" y="97530"/>
                  </a:lnTo>
                  <a:cubicBezTo>
                    <a:pt x="728816" y="108798"/>
                    <a:pt x="724340" y="119605"/>
                    <a:pt x="716372" y="127572"/>
                  </a:cubicBezTo>
                  <a:cubicBezTo>
                    <a:pt x="708404" y="135540"/>
                    <a:pt x="697598" y="140016"/>
                    <a:pt x="686330" y="140016"/>
                  </a:cubicBezTo>
                  <a:lnTo>
                    <a:pt x="42486" y="140016"/>
                  </a:lnTo>
                  <a:cubicBezTo>
                    <a:pt x="31218" y="140016"/>
                    <a:pt x="20412" y="135540"/>
                    <a:pt x="12444" y="127572"/>
                  </a:cubicBezTo>
                  <a:cubicBezTo>
                    <a:pt x="4476" y="119605"/>
                    <a:pt x="0" y="108798"/>
                    <a:pt x="0" y="97530"/>
                  </a:cubicBezTo>
                  <a:lnTo>
                    <a:pt x="0" y="42486"/>
                  </a:lnTo>
                  <a:cubicBezTo>
                    <a:pt x="0" y="31218"/>
                    <a:pt x="4476" y="20412"/>
                    <a:pt x="12444" y="12444"/>
                  </a:cubicBezTo>
                  <a:cubicBezTo>
                    <a:pt x="20412" y="4476"/>
                    <a:pt x="31218" y="0"/>
                    <a:pt x="42486"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13" id="13"/>
            <p:cNvSpPr txBox="true"/>
            <p:nvPr/>
          </p:nvSpPr>
          <p:spPr>
            <a:xfrm>
              <a:off x="0" y="-38100"/>
              <a:ext cx="728816" cy="17811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1850563" y="4330201"/>
            <a:ext cx="3995186" cy="399031"/>
          </a:xfrm>
          <a:prstGeom prst="rect">
            <a:avLst/>
          </a:prstGeom>
        </p:spPr>
        <p:txBody>
          <a:bodyPr anchor="t" rtlCol="false" tIns="0" lIns="0" bIns="0" rIns="0">
            <a:spAutoFit/>
          </a:bodyPr>
          <a:lstStyle/>
          <a:p>
            <a:pPr algn="l" marL="0" indent="0" lvl="0">
              <a:lnSpc>
                <a:spcPts val="3093"/>
              </a:lnSpc>
            </a:pPr>
            <a:r>
              <a:rPr lang="en-US" sz="2946" spc="-253">
                <a:solidFill>
                  <a:srgbClr val="3C0C19"/>
                </a:solidFill>
                <a:latin typeface="Helvetica World"/>
                <a:ea typeface="Helvetica World"/>
                <a:cs typeface="Helvetica World"/>
                <a:sym typeface="Helvetica World"/>
              </a:rPr>
              <a:t>Self-Subtract Ablation</a:t>
            </a:r>
          </a:p>
        </p:txBody>
      </p:sp>
      <p:sp>
        <p:nvSpPr>
          <p:cNvPr name="TextBox 15" id="15"/>
          <p:cNvSpPr txBox="true"/>
          <p:nvPr/>
        </p:nvSpPr>
        <p:spPr>
          <a:xfrm rot="0">
            <a:off x="7015815" y="4330201"/>
            <a:ext cx="3995186" cy="399031"/>
          </a:xfrm>
          <a:prstGeom prst="rect">
            <a:avLst/>
          </a:prstGeom>
        </p:spPr>
        <p:txBody>
          <a:bodyPr anchor="t" rtlCol="false" tIns="0" lIns="0" bIns="0" rIns="0">
            <a:spAutoFit/>
          </a:bodyPr>
          <a:lstStyle/>
          <a:p>
            <a:pPr algn="l" marL="0" indent="0" lvl="0">
              <a:lnSpc>
                <a:spcPts val="3093"/>
              </a:lnSpc>
            </a:pPr>
            <a:r>
              <a:rPr lang="en-US" sz="2946" spc="-253">
                <a:solidFill>
                  <a:srgbClr val="3C0C19"/>
                </a:solidFill>
                <a:latin typeface="Helvetica World"/>
                <a:ea typeface="Helvetica World"/>
                <a:cs typeface="Helvetica World"/>
                <a:sym typeface="Helvetica World"/>
              </a:rPr>
              <a:t>Attention Architecture Ablation</a:t>
            </a:r>
          </a:p>
        </p:txBody>
      </p:sp>
      <p:sp>
        <p:nvSpPr>
          <p:cNvPr name="TextBox 16" id="16"/>
          <p:cNvSpPr txBox="true"/>
          <p:nvPr/>
        </p:nvSpPr>
        <p:spPr>
          <a:xfrm rot="0">
            <a:off x="1943874" y="5696757"/>
            <a:ext cx="4221113" cy="1878330"/>
          </a:xfrm>
          <a:prstGeom prst="rect">
            <a:avLst/>
          </a:prstGeom>
        </p:spPr>
        <p:txBody>
          <a:bodyPr anchor="t" rtlCol="false" tIns="0" lIns="0" bIns="0" rIns="0">
            <a:spAutoFit/>
          </a:bodyPr>
          <a:lstStyle/>
          <a:p>
            <a:pPr algn="l" marL="0" indent="0" lvl="0">
              <a:lnSpc>
                <a:spcPts val="2520"/>
              </a:lnSpc>
            </a:pPr>
            <a:r>
              <a:rPr lang="en-US" sz="1800" spc="-63">
                <a:solidFill>
                  <a:srgbClr val="FFFFFF"/>
                </a:solidFill>
                <a:latin typeface="Public Sans Light"/>
                <a:ea typeface="Public Sans Light"/>
                <a:cs typeface="Public Sans Light"/>
                <a:sym typeface="Public Sans Light"/>
              </a:rPr>
              <a:t>Built and integrated the on/off toggle for the self-subtract mechanism. Training pipeline is complete but full comparative training runs were not executed due to compute and time constraints. Results pending.</a:t>
            </a:r>
          </a:p>
        </p:txBody>
      </p:sp>
      <p:sp>
        <p:nvSpPr>
          <p:cNvPr name="TextBox 17" id="17"/>
          <p:cNvSpPr txBox="true"/>
          <p:nvPr/>
        </p:nvSpPr>
        <p:spPr>
          <a:xfrm rot="0">
            <a:off x="7109126" y="5696757"/>
            <a:ext cx="4274000" cy="1878330"/>
          </a:xfrm>
          <a:prstGeom prst="rect">
            <a:avLst/>
          </a:prstGeom>
        </p:spPr>
        <p:txBody>
          <a:bodyPr anchor="t" rtlCol="false" tIns="0" lIns="0" bIns="0" rIns="0">
            <a:spAutoFit/>
          </a:bodyPr>
          <a:lstStyle/>
          <a:p>
            <a:pPr algn="l" marL="0" indent="0" lvl="0">
              <a:lnSpc>
                <a:spcPts val="2520"/>
              </a:lnSpc>
            </a:pPr>
            <a:r>
              <a:rPr lang="en-US" sz="1800" spc="-63">
                <a:solidFill>
                  <a:srgbClr val="FFFFFF"/>
                </a:solidFill>
                <a:latin typeface="Public Sans Light"/>
                <a:ea typeface="Public Sans Light"/>
                <a:cs typeface="Public Sans Light"/>
                <a:sym typeface="Public Sans Light"/>
              </a:rPr>
              <a:t>Five attention ordering variants implemented in code (temporal-first, spatial-first, parallel, etc.). Architecture is functional but ablation experiments were not run. Temporal-first expected to outperform per paper.</a:t>
            </a:r>
          </a:p>
        </p:txBody>
      </p:sp>
      <p:grpSp>
        <p:nvGrpSpPr>
          <p:cNvPr name="Group 18" id="18"/>
          <p:cNvGrpSpPr/>
          <p:nvPr/>
        </p:nvGrpSpPr>
        <p:grpSpPr>
          <a:xfrm rot="0">
            <a:off x="11849268" y="4050007"/>
            <a:ext cx="4919969" cy="945199"/>
            <a:chOff x="0" y="0"/>
            <a:chExt cx="728816" cy="140016"/>
          </a:xfrm>
        </p:grpSpPr>
        <p:sp>
          <p:nvSpPr>
            <p:cNvPr name="Freeform 19" id="19"/>
            <p:cNvSpPr/>
            <p:nvPr/>
          </p:nvSpPr>
          <p:spPr>
            <a:xfrm flipH="false" flipV="false" rot="0">
              <a:off x="0" y="0"/>
              <a:ext cx="728816" cy="140016"/>
            </a:xfrm>
            <a:custGeom>
              <a:avLst/>
              <a:gdLst/>
              <a:ahLst/>
              <a:cxnLst/>
              <a:rect r="r" b="b" t="t" l="l"/>
              <a:pathLst>
                <a:path h="140016" w="728816">
                  <a:moveTo>
                    <a:pt x="42486" y="0"/>
                  </a:moveTo>
                  <a:lnTo>
                    <a:pt x="686330" y="0"/>
                  </a:lnTo>
                  <a:cubicBezTo>
                    <a:pt x="697598" y="0"/>
                    <a:pt x="708404" y="4476"/>
                    <a:pt x="716372" y="12444"/>
                  </a:cubicBezTo>
                  <a:cubicBezTo>
                    <a:pt x="724340" y="20412"/>
                    <a:pt x="728816" y="31218"/>
                    <a:pt x="728816" y="42486"/>
                  </a:cubicBezTo>
                  <a:lnTo>
                    <a:pt x="728816" y="97530"/>
                  </a:lnTo>
                  <a:cubicBezTo>
                    <a:pt x="728816" y="108798"/>
                    <a:pt x="724340" y="119605"/>
                    <a:pt x="716372" y="127572"/>
                  </a:cubicBezTo>
                  <a:cubicBezTo>
                    <a:pt x="708404" y="135540"/>
                    <a:pt x="697598" y="140016"/>
                    <a:pt x="686330" y="140016"/>
                  </a:cubicBezTo>
                  <a:lnTo>
                    <a:pt x="42486" y="140016"/>
                  </a:lnTo>
                  <a:cubicBezTo>
                    <a:pt x="31218" y="140016"/>
                    <a:pt x="20412" y="135540"/>
                    <a:pt x="12444" y="127572"/>
                  </a:cubicBezTo>
                  <a:cubicBezTo>
                    <a:pt x="4476" y="119605"/>
                    <a:pt x="0" y="108798"/>
                    <a:pt x="0" y="97530"/>
                  </a:cubicBezTo>
                  <a:lnTo>
                    <a:pt x="0" y="42486"/>
                  </a:lnTo>
                  <a:cubicBezTo>
                    <a:pt x="0" y="31218"/>
                    <a:pt x="4476" y="20412"/>
                    <a:pt x="12444" y="12444"/>
                  </a:cubicBezTo>
                  <a:cubicBezTo>
                    <a:pt x="20412" y="4476"/>
                    <a:pt x="31218" y="0"/>
                    <a:pt x="42486" y="0"/>
                  </a:cubicBezTo>
                  <a:close/>
                </a:path>
              </a:pathLst>
            </a:custGeom>
            <a:solidFill>
              <a:srgbClr val="FFFFFF"/>
            </a:solidFill>
            <a:ln w="9525" cap="rnd">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round/>
            </a:ln>
          </p:spPr>
        </p:sp>
        <p:sp>
          <p:nvSpPr>
            <p:cNvPr name="TextBox 20" id="20"/>
            <p:cNvSpPr txBox="true"/>
            <p:nvPr/>
          </p:nvSpPr>
          <p:spPr>
            <a:xfrm>
              <a:off x="0" y="-38100"/>
              <a:ext cx="728816" cy="17811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1" id="21"/>
          <p:cNvSpPr txBox="true"/>
          <p:nvPr/>
        </p:nvSpPr>
        <p:spPr>
          <a:xfrm rot="0">
            <a:off x="12181067" y="4330201"/>
            <a:ext cx="3995186" cy="399031"/>
          </a:xfrm>
          <a:prstGeom prst="rect">
            <a:avLst/>
          </a:prstGeom>
        </p:spPr>
        <p:txBody>
          <a:bodyPr anchor="t" rtlCol="false" tIns="0" lIns="0" bIns="0" rIns="0">
            <a:spAutoFit/>
          </a:bodyPr>
          <a:lstStyle/>
          <a:p>
            <a:pPr algn="l" marL="0" indent="0" lvl="0">
              <a:lnSpc>
                <a:spcPts val="3093"/>
              </a:lnSpc>
            </a:pPr>
            <a:r>
              <a:rPr lang="en-US" sz="2946" spc="-253">
                <a:solidFill>
                  <a:srgbClr val="3C0C19"/>
                </a:solidFill>
                <a:latin typeface="Helvetica World"/>
                <a:ea typeface="Helvetica World"/>
                <a:cs typeface="Helvetica World"/>
                <a:sym typeface="Helvetica World"/>
              </a:rPr>
              <a:t>Cross-Dataset Evaluation</a:t>
            </a:r>
          </a:p>
        </p:txBody>
      </p:sp>
      <p:sp>
        <p:nvSpPr>
          <p:cNvPr name="TextBox 22" id="22"/>
          <p:cNvSpPr txBox="true"/>
          <p:nvPr/>
        </p:nvSpPr>
        <p:spPr>
          <a:xfrm rot="0">
            <a:off x="12274378" y="5696757"/>
            <a:ext cx="4221113" cy="1564005"/>
          </a:xfrm>
          <a:prstGeom prst="rect">
            <a:avLst/>
          </a:prstGeom>
        </p:spPr>
        <p:txBody>
          <a:bodyPr anchor="t" rtlCol="false" tIns="0" lIns="0" bIns="0" rIns="0">
            <a:spAutoFit/>
          </a:bodyPr>
          <a:lstStyle/>
          <a:p>
            <a:pPr algn="l" marL="0" indent="0" lvl="0">
              <a:lnSpc>
                <a:spcPts val="2520"/>
              </a:lnSpc>
            </a:pPr>
            <a:r>
              <a:rPr lang="en-US" sz="1800" spc="-63">
                <a:solidFill>
                  <a:srgbClr val="FFFFFF"/>
                </a:solidFill>
                <a:latin typeface="Public Sans Light"/>
                <a:ea typeface="Public Sans Light"/>
                <a:cs typeface="Public Sans Light"/>
                <a:sym typeface="Public Sans Light"/>
              </a:rPr>
              <a:t>Evaluation scaffold built and tested. Awaiting access to a second deepfake dataset for cross-dataset generalization testing. Data pipeline is ready; experiments will run once dataset is available.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552442" y="1155532"/>
            <a:ext cx="9173078" cy="1955360"/>
          </a:xfrm>
          <a:custGeom>
            <a:avLst/>
            <a:gdLst/>
            <a:ahLst/>
            <a:cxnLst/>
            <a:rect r="r" b="b" t="t" l="l"/>
            <a:pathLst>
              <a:path h="1955360" w="9173078">
                <a:moveTo>
                  <a:pt x="0" y="0"/>
                </a:moveTo>
                <a:lnTo>
                  <a:pt x="9173079" y="0"/>
                </a:lnTo>
                <a:lnTo>
                  <a:pt x="9173079" y="1955360"/>
                </a:lnTo>
                <a:lnTo>
                  <a:pt x="0" y="1955360"/>
                </a:lnTo>
                <a:lnTo>
                  <a:pt x="0" y="0"/>
                </a:lnTo>
                <a:close/>
              </a:path>
            </a:pathLst>
          </a:custGeom>
          <a:blipFill>
            <a:blip r:embed="rId3">
              <a:alphaModFix amt="70000"/>
            </a:blip>
            <a:stretch>
              <a:fillRect l="-128939" t="-100395" r="-93343" b="-808461"/>
            </a:stretch>
          </a:blipFill>
        </p:spPr>
      </p:sp>
      <p:sp>
        <p:nvSpPr>
          <p:cNvPr name="TextBox 4" id="4"/>
          <p:cNvSpPr txBox="true"/>
          <p:nvPr/>
        </p:nvSpPr>
        <p:spPr>
          <a:xfrm rot="0">
            <a:off x="1028700" y="1460207"/>
            <a:ext cx="10464523" cy="1512199"/>
          </a:xfrm>
          <a:prstGeom prst="rect">
            <a:avLst/>
          </a:prstGeom>
        </p:spPr>
        <p:txBody>
          <a:bodyPr anchor="t" rtlCol="false" tIns="0" lIns="0" bIns="0" rIns="0">
            <a:spAutoFit/>
          </a:bodyPr>
          <a:lstStyle/>
          <a:p>
            <a:pPr algn="l" marL="0" indent="0" lvl="0">
              <a:lnSpc>
                <a:spcPts val="5791"/>
              </a:lnSpc>
            </a:pPr>
            <a:r>
              <a:rPr lang="en-US" sz="6434" spc="-386">
                <a:solidFill>
                  <a:srgbClr val="FFFFFF"/>
                </a:solidFill>
                <a:latin typeface="TT Interphases"/>
                <a:ea typeface="TT Interphases"/>
                <a:cs typeface="TT Interphases"/>
                <a:sym typeface="TT Interphases"/>
              </a:rPr>
              <a:t>CONCLUSION &amp; FUTURE WORK</a:t>
            </a:r>
          </a:p>
        </p:txBody>
      </p:sp>
      <p:grpSp>
        <p:nvGrpSpPr>
          <p:cNvPr name="Group 5" id="5"/>
          <p:cNvGrpSpPr/>
          <p:nvPr/>
        </p:nvGrpSpPr>
        <p:grpSpPr>
          <a:xfrm rot="0">
            <a:off x="10890612" y="1100926"/>
            <a:ext cx="6368688" cy="4989488"/>
            <a:chOff x="0" y="0"/>
            <a:chExt cx="957333" cy="750013"/>
          </a:xfrm>
        </p:grpSpPr>
        <p:sp>
          <p:nvSpPr>
            <p:cNvPr name="Freeform 6" id="6"/>
            <p:cNvSpPr/>
            <p:nvPr/>
          </p:nvSpPr>
          <p:spPr>
            <a:xfrm flipH="false" flipV="false" rot="0">
              <a:off x="0" y="0"/>
              <a:ext cx="957333" cy="750013"/>
            </a:xfrm>
            <a:custGeom>
              <a:avLst/>
              <a:gdLst/>
              <a:ahLst/>
              <a:cxnLst/>
              <a:rect r="r" b="b" t="t" l="l"/>
              <a:pathLst>
                <a:path h="750013" w="957333">
                  <a:moveTo>
                    <a:pt x="65644" y="0"/>
                  </a:moveTo>
                  <a:lnTo>
                    <a:pt x="891689" y="0"/>
                  </a:lnTo>
                  <a:cubicBezTo>
                    <a:pt x="909099" y="0"/>
                    <a:pt x="925796" y="6916"/>
                    <a:pt x="938106" y="19227"/>
                  </a:cubicBezTo>
                  <a:cubicBezTo>
                    <a:pt x="950417" y="31537"/>
                    <a:pt x="957333" y="48234"/>
                    <a:pt x="957333" y="65644"/>
                  </a:cubicBezTo>
                  <a:lnTo>
                    <a:pt x="957333" y="684370"/>
                  </a:lnTo>
                  <a:cubicBezTo>
                    <a:pt x="957333" y="701779"/>
                    <a:pt x="950417" y="718476"/>
                    <a:pt x="938106" y="730787"/>
                  </a:cubicBezTo>
                  <a:cubicBezTo>
                    <a:pt x="925796" y="743097"/>
                    <a:pt x="909099" y="750013"/>
                    <a:pt x="891689" y="750013"/>
                  </a:cubicBezTo>
                  <a:lnTo>
                    <a:pt x="65644" y="750013"/>
                  </a:lnTo>
                  <a:cubicBezTo>
                    <a:pt x="48234" y="750013"/>
                    <a:pt x="31537" y="743097"/>
                    <a:pt x="19227" y="730787"/>
                  </a:cubicBezTo>
                  <a:cubicBezTo>
                    <a:pt x="6916" y="718476"/>
                    <a:pt x="0" y="701779"/>
                    <a:pt x="0" y="684370"/>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7" id="7"/>
            <p:cNvSpPr txBox="true"/>
            <p:nvPr/>
          </p:nvSpPr>
          <p:spPr>
            <a:xfrm>
              <a:off x="0" y="-38100"/>
              <a:ext cx="957333" cy="78811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890612" y="6802198"/>
            <a:ext cx="6368688" cy="3484802"/>
            <a:chOff x="0" y="0"/>
            <a:chExt cx="957333" cy="523831"/>
          </a:xfrm>
        </p:grpSpPr>
        <p:sp>
          <p:nvSpPr>
            <p:cNvPr name="Freeform 9" id="9"/>
            <p:cNvSpPr/>
            <p:nvPr/>
          </p:nvSpPr>
          <p:spPr>
            <a:xfrm flipH="false" flipV="false" rot="0">
              <a:off x="0" y="0"/>
              <a:ext cx="957333" cy="523831"/>
            </a:xfrm>
            <a:custGeom>
              <a:avLst/>
              <a:gdLst/>
              <a:ahLst/>
              <a:cxnLst/>
              <a:rect r="r" b="b" t="t" l="l"/>
              <a:pathLst>
                <a:path h="523831" w="957333">
                  <a:moveTo>
                    <a:pt x="65644" y="0"/>
                  </a:moveTo>
                  <a:lnTo>
                    <a:pt x="891689" y="0"/>
                  </a:lnTo>
                  <a:cubicBezTo>
                    <a:pt x="909099" y="0"/>
                    <a:pt x="925796" y="6916"/>
                    <a:pt x="938106" y="19227"/>
                  </a:cubicBezTo>
                  <a:cubicBezTo>
                    <a:pt x="950417" y="31537"/>
                    <a:pt x="957333" y="48234"/>
                    <a:pt x="957333" y="65644"/>
                  </a:cubicBezTo>
                  <a:lnTo>
                    <a:pt x="957333" y="458187"/>
                  </a:lnTo>
                  <a:cubicBezTo>
                    <a:pt x="957333" y="475597"/>
                    <a:pt x="950417" y="492294"/>
                    <a:pt x="938106" y="504604"/>
                  </a:cubicBezTo>
                  <a:cubicBezTo>
                    <a:pt x="925796" y="516915"/>
                    <a:pt x="909099" y="523831"/>
                    <a:pt x="891689" y="523831"/>
                  </a:cubicBezTo>
                  <a:lnTo>
                    <a:pt x="65644" y="523831"/>
                  </a:lnTo>
                  <a:cubicBezTo>
                    <a:pt x="48234" y="523831"/>
                    <a:pt x="31537" y="516915"/>
                    <a:pt x="19227" y="504604"/>
                  </a:cubicBezTo>
                  <a:cubicBezTo>
                    <a:pt x="6916" y="492294"/>
                    <a:pt x="0" y="475597"/>
                    <a:pt x="0" y="458187"/>
                  </a:cubicBezTo>
                  <a:lnTo>
                    <a:pt x="0" y="65644"/>
                  </a:lnTo>
                  <a:cubicBezTo>
                    <a:pt x="0" y="48234"/>
                    <a:pt x="6916" y="31537"/>
                    <a:pt x="19227" y="19227"/>
                  </a:cubicBezTo>
                  <a:cubicBezTo>
                    <a:pt x="31537" y="6916"/>
                    <a:pt x="48234" y="0"/>
                    <a:pt x="65644" y="0"/>
                  </a:cubicBezTo>
                  <a:close/>
                </a:path>
              </a:pathLst>
            </a:custGeom>
            <a:gradFill rotWithShape="true">
              <a:gsLst>
                <a:gs pos="0">
                  <a:srgbClr val="050003">
                    <a:alpha val="100000"/>
                  </a:srgbClr>
                </a:gs>
                <a:gs pos="50000">
                  <a:srgbClr val="050003">
                    <a:alpha val="70000"/>
                  </a:srgbClr>
                </a:gs>
                <a:gs pos="100000">
                  <a:srgbClr val="050003">
                    <a:alpha val="0"/>
                  </a:srgbClr>
                </a:gs>
              </a:gsLst>
              <a:lin ang="5400000"/>
            </a:gradFill>
            <a:ln w="9525" cap="rnd">
              <a:solidFill>
                <a:srgbClr val="F2FFF2"/>
              </a:solidFill>
              <a:prstDash val="solid"/>
              <a:round/>
            </a:ln>
          </p:spPr>
        </p:sp>
        <p:sp>
          <p:nvSpPr>
            <p:cNvPr name="TextBox 10" id="10"/>
            <p:cNvSpPr txBox="true"/>
            <p:nvPr/>
          </p:nvSpPr>
          <p:spPr>
            <a:xfrm>
              <a:off x="0" y="-38100"/>
              <a:ext cx="957333" cy="56193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8922632" y="3905135"/>
            <a:ext cx="6049421" cy="2592263"/>
            <a:chOff x="0" y="0"/>
            <a:chExt cx="909341" cy="389666"/>
          </a:xfrm>
        </p:grpSpPr>
        <p:sp>
          <p:nvSpPr>
            <p:cNvPr name="Freeform 12" id="12"/>
            <p:cNvSpPr/>
            <p:nvPr/>
          </p:nvSpPr>
          <p:spPr>
            <a:xfrm flipH="false" flipV="false" rot="0">
              <a:off x="0" y="0"/>
              <a:ext cx="909341" cy="389666"/>
            </a:xfrm>
            <a:custGeom>
              <a:avLst/>
              <a:gdLst/>
              <a:ahLst/>
              <a:cxnLst/>
              <a:rect r="r" b="b" t="t" l="l"/>
              <a:pathLst>
                <a:path h="389666" w="909341">
                  <a:moveTo>
                    <a:pt x="69108" y="0"/>
                  </a:moveTo>
                  <a:lnTo>
                    <a:pt x="840233" y="0"/>
                  </a:lnTo>
                  <a:cubicBezTo>
                    <a:pt x="878400" y="0"/>
                    <a:pt x="909341" y="30941"/>
                    <a:pt x="909341" y="69108"/>
                  </a:cubicBezTo>
                  <a:lnTo>
                    <a:pt x="909341" y="320558"/>
                  </a:lnTo>
                  <a:cubicBezTo>
                    <a:pt x="909341" y="338886"/>
                    <a:pt x="902060" y="356464"/>
                    <a:pt x="889100" y="369424"/>
                  </a:cubicBezTo>
                  <a:cubicBezTo>
                    <a:pt x="876140" y="382385"/>
                    <a:pt x="858562" y="389666"/>
                    <a:pt x="840233" y="389666"/>
                  </a:cubicBezTo>
                  <a:lnTo>
                    <a:pt x="69108" y="389666"/>
                  </a:lnTo>
                  <a:cubicBezTo>
                    <a:pt x="50779" y="389666"/>
                    <a:pt x="33202" y="382385"/>
                    <a:pt x="20241" y="369424"/>
                  </a:cubicBezTo>
                  <a:cubicBezTo>
                    <a:pt x="7281" y="356464"/>
                    <a:pt x="0" y="338886"/>
                    <a:pt x="0" y="320558"/>
                  </a:cubicBezTo>
                  <a:lnTo>
                    <a:pt x="0" y="69108"/>
                  </a:lnTo>
                  <a:cubicBezTo>
                    <a:pt x="0" y="50779"/>
                    <a:pt x="7281" y="33202"/>
                    <a:pt x="20241" y="20241"/>
                  </a:cubicBezTo>
                  <a:cubicBezTo>
                    <a:pt x="33202" y="7281"/>
                    <a:pt x="50779" y="0"/>
                    <a:pt x="69108" y="0"/>
                  </a:cubicBezTo>
                  <a:close/>
                </a:path>
              </a:pathLst>
            </a:custGeom>
            <a:solidFill>
              <a:srgbClr val="F9F9F9"/>
            </a:solidFill>
            <a:ln w="9525" cap="rnd">
              <a:solidFill>
                <a:srgbClr val="F2FFF2"/>
              </a:solidFill>
              <a:prstDash val="solid"/>
              <a:round/>
            </a:ln>
          </p:spPr>
        </p:sp>
        <p:sp>
          <p:nvSpPr>
            <p:cNvPr name="TextBox 13" id="13"/>
            <p:cNvSpPr txBox="true"/>
            <p:nvPr/>
          </p:nvSpPr>
          <p:spPr>
            <a:xfrm>
              <a:off x="0" y="-38100"/>
              <a:ext cx="909341" cy="42776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1144385" y="1300173"/>
            <a:ext cx="1846255" cy="2163278"/>
            <a:chOff x="0" y="0"/>
            <a:chExt cx="636131" cy="745363"/>
          </a:xfrm>
        </p:grpSpPr>
        <p:sp>
          <p:nvSpPr>
            <p:cNvPr name="Freeform 15" id="15"/>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4"/>
              <a:stretch>
                <a:fillRect l="0" t="-55" r="0" b="-55"/>
              </a:stretch>
            </a:blipFill>
            <a:ln w="9525" cap="rnd">
              <a:solidFill>
                <a:srgbClr val="F9F9F9"/>
              </a:solidFill>
              <a:prstDash val="solid"/>
              <a:round/>
            </a:ln>
          </p:spPr>
        </p:sp>
      </p:grpSp>
      <p:grpSp>
        <p:nvGrpSpPr>
          <p:cNvPr name="Group 16" id="16"/>
          <p:cNvGrpSpPr/>
          <p:nvPr/>
        </p:nvGrpSpPr>
        <p:grpSpPr>
          <a:xfrm rot="0">
            <a:off x="9133859" y="4107755"/>
            <a:ext cx="1846255" cy="2163278"/>
            <a:chOff x="0" y="0"/>
            <a:chExt cx="636131" cy="745363"/>
          </a:xfrm>
        </p:grpSpPr>
        <p:sp>
          <p:nvSpPr>
            <p:cNvPr name="Freeform 17" id="17"/>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5"/>
              <a:stretch>
                <a:fillRect l="0" t="-55" r="0" b="-55"/>
              </a:stretch>
            </a:blipFill>
            <a:ln w="9525" cap="rnd">
              <a:solidFill>
                <a:srgbClr val="F9F9F9"/>
              </a:solidFill>
              <a:prstDash val="solid"/>
              <a:round/>
            </a:ln>
          </p:spPr>
        </p:sp>
      </p:grpSp>
      <p:grpSp>
        <p:nvGrpSpPr>
          <p:cNvPr name="Group 18" id="18"/>
          <p:cNvGrpSpPr/>
          <p:nvPr/>
        </p:nvGrpSpPr>
        <p:grpSpPr>
          <a:xfrm rot="0">
            <a:off x="11144385" y="7063319"/>
            <a:ext cx="1846255" cy="2163278"/>
            <a:chOff x="0" y="0"/>
            <a:chExt cx="636131" cy="745363"/>
          </a:xfrm>
        </p:grpSpPr>
        <p:sp>
          <p:nvSpPr>
            <p:cNvPr name="Freeform 19" id="19"/>
            <p:cNvSpPr/>
            <p:nvPr/>
          </p:nvSpPr>
          <p:spPr>
            <a:xfrm flipH="false" flipV="false" rot="0">
              <a:off x="0" y="0"/>
              <a:ext cx="636131" cy="745363"/>
            </a:xfrm>
            <a:custGeom>
              <a:avLst/>
              <a:gdLst/>
              <a:ahLst/>
              <a:cxnLst/>
              <a:rect r="r" b="b" t="t" l="l"/>
              <a:pathLst>
                <a:path h="745363" w="636131">
                  <a:moveTo>
                    <a:pt x="192892" y="0"/>
                  </a:moveTo>
                  <a:lnTo>
                    <a:pt x="443239" y="0"/>
                  </a:lnTo>
                  <a:cubicBezTo>
                    <a:pt x="549771" y="0"/>
                    <a:pt x="636131" y="86361"/>
                    <a:pt x="636131" y="192892"/>
                  </a:cubicBezTo>
                  <a:lnTo>
                    <a:pt x="636131" y="552470"/>
                  </a:lnTo>
                  <a:cubicBezTo>
                    <a:pt x="636131" y="603629"/>
                    <a:pt x="615809" y="652691"/>
                    <a:pt x="579635" y="688866"/>
                  </a:cubicBezTo>
                  <a:cubicBezTo>
                    <a:pt x="543460" y="725040"/>
                    <a:pt x="494397" y="745363"/>
                    <a:pt x="443239" y="745363"/>
                  </a:cubicBezTo>
                  <a:lnTo>
                    <a:pt x="192892" y="745363"/>
                  </a:lnTo>
                  <a:cubicBezTo>
                    <a:pt x="141734" y="745363"/>
                    <a:pt x="92671" y="725040"/>
                    <a:pt x="56497" y="688866"/>
                  </a:cubicBezTo>
                  <a:cubicBezTo>
                    <a:pt x="20323" y="652691"/>
                    <a:pt x="0" y="603629"/>
                    <a:pt x="0" y="552470"/>
                  </a:cubicBezTo>
                  <a:lnTo>
                    <a:pt x="0" y="192892"/>
                  </a:lnTo>
                  <a:cubicBezTo>
                    <a:pt x="0" y="141734"/>
                    <a:pt x="20323" y="92671"/>
                    <a:pt x="56497" y="56497"/>
                  </a:cubicBezTo>
                  <a:cubicBezTo>
                    <a:pt x="92671" y="20323"/>
                    <a:pt x="141734" y="0"/>
                    <a:pt x="192892" y="0"/>
                  </a:cubicBezTo>
                  <a:close/>
                </a:path>
              </a:pathLst>
            </a:custGeom>
            <a:blipFill>
              <a:blip r:embed="rId6"/>
              <a:stretch>
                <a:fillRect l="0" t="-55" r="0" b="-55"/>
              </a:stretch>
            </a:blipFill>
            <a:ln w="9525" cap="rnd">
              <a:solidFill>
                <a:srgbClr val="F9F9F9"/>
              </a:solidFill>
              <a:prstDash val="solid"/>
              <a:round/>
            </a:ln>
          </p:spPr>
        </p:sp>
      </p:grpSp>
      <p:sp>
        <p:nvSpPr>
          <p:cNvPr name="TextBox 20" id="20"/>
          <p:cNvSpPr txBox="true"/>
          <p:nvPr/>
        </p:nvSpPr>
        <p:spPr>
          <a:xfrm rot="0">
            <a:off x="1028700" y="7291752"/>
            <a:ext cx="8333124" cy="1102379"/>
          </a:xfrm>
          <a:prstGeom prst="rect">
            <a:avLst/>
          </a:prstGeom>
        </p:spPr>
        <p:txBody>
          <a:bodyPr anchor="t" rtlCol="false" tIns="0" lIns="0" bIns="0" rIns="0">
            <a:spAutoFit/>
          </a:bodyPr>
          <a:lstStyle/>
          <a:p>
            <a:pPr algn="l" marL="0" indent="0" lvl="0">
              <a:lnSpc>
                <a:spcPts val="2238"/>
              </a:lnSpc>
            </a:pPr>
            <a:r>
              <a:rPr lang="en-US" sz="1599" i="true" spc="-100">
                <a:solidFill>
                  <a:srgbClr val="F9F9F9"/>
                </a:solidFill>
                <a:latin typeface="Public Sans Light Italics"/>
                <a:ea typeface="Public Sans Light Italics"/>
                <a:cs typeface="Public Sans Light Italics"/>
                <a:sym typeface="Public Sans Light Italics"/>
              </a:rPr>
              <a:t>Future work includes completing all ablation studies (self-subtract, attention variants), scaling up to the full paper configuration (12 blocks, 300×300 resolution), executing cross-dataset evaluation, and delivering quantitative interpretability comparisons. This reimplementation validates ISTVT's core design on limited hardware.</a:t>
            </a:r>
          </a:p>
        </p:txBody>
      </p:sp>
      <p:sp>
        <p:nvSpPr>
          <p:cNvPr name="TextBox 21" id="21"/>
          <p:cNvSpPr txBox="true"/>
          <p:nvPr/>
        </p:nvSpPr>
        <p:spPr>
          <a:xfrm rot="0">
            <a:off x="13863329" y="1782682"/>
            <a:ext cx="3029636" cy="282849"/>
          </a:xfrm>
          <a:prstGeom prst="rect">
            <a:avLst/>
          </a:prstGeom>
        </p:spPr>
        <p:txBody>
          <a:bodyPr anchor="t" rtlCol="false" tIns="0" lIns="0" bIns="0" rIns="0">
            <a:spAutoFit/>
          </a:bodyPr>
          <a:lstStyle/>
          <a:p>
            <a:pPr algn="l" marL="0" indent="0" lvl="0">
              <a:lnSpc>
                <a:spcPts val="2250"/>
              </a:lnSpc>
            </a:pPr>
            <a:r>
              <a:rPr lang="en-US" sz="1607" spc="-118">
                <a:solidFill>
                  <a:srgbClr val="F9F9F9"/>
                </a:solidFill>
                <a:latin typeface="Public Sans"/>
                <a:ea typeface="Public Sans"/>
                <a:cs typeface="Public Sans"/>
                <a:sym typeface="Public Sans"/>
              </a:rPr>
              <a:t>Reimplementation</a:t>
            </a:r>
          </a:p>
        </p:txBody>
      </p:sp>
      <p:sp>
        <p:nvSpPr>
          <p:cNvPr name="TextBox 22" id="22"/>
          <p:cNvSpPr txBox="true"/>
          <p:nvPr/>
        </p:nvSpPr>
        <p:spPr>
          <a:xfrm rot="0">
            <a:off x="11717111" y="4597335"/>
            <a:ext cx="3029636" cy="282849"/>
          </a:xfrm>
          <a:prstGeom prst="rect">
            <a:avLst/>
          </a:prstGeom>
        </p:spPr>
        <p:txBody>
          <a:bodyPr anchor="t" rtlCol="false" tIns="0" lIns="0" bIns="0" rIns="0">
            <a:spAutoFit/>
          </a:bodyPr>
          <a:lstStyle/>
          <a:p>
            <a:pPr algn="l" marL="0" indent="0" lvl="0">
              <a:lnSpc>
                <a:spcPts val="2250"/>
              </a:lnSpc>
            </a:pPr>
            <a:r>
              <a:rPr lang="en-US" sz="1607" spc="-118">
                <a:solidFill>
                  <a:srgbClr val="000000"/>
                </a:solidFill>
                <a:latin typeface="Public Sans"/>
                <a:ea typeface="Public Sans"/>
                <a:cs typeface="Public Sans"/>
                <a:sym typeface="Public Sans"/>
              </a:rPr>
              <a:t>Strong Results</a:t>
            </a:r>
          </a:p>
        </p:txBody>
      </p:sp>
      <p:sp>
        <p:nvSpPr>
          <p:cNvPr name="TextBox 23" id="23"/>
          <p:cNvSpPr txBox="true"/>
          <p:nvPr/>
        </p:nvSpPr>
        <p:spPr>
          <a:xfrm rot="0">
            <a:off x="13863329" y="2315016"/>
            <a:ext cx="2520710" cy="260985"/>
          </a:xfrm>
          <a:prstGeom prst="rect">
            <a:avLst/>
          </a:prstGeom>
        </p:spPr>
        <p:txBody>
          <a:bodyPr anchor="t" rtlCol="false" tIns="0" lIns="0" bIns="0" rIns="0">
            <a:spAutoFit/>
          </a:bodyPr>
          <a:lstStyle/>
          <a:p>
            <a:pPr algn="l" marL="0" indent="0" lvl="0">
              <a:lnSpc>
                <a:spcPts val="2059"/>
              </a:lnSpc>
            </a:pPr>
            <a:r>
              <a:rPr lang="en-US" sz="1471" spc="-108">
                <a:solidFill>
                  <a:srgbClr val="F9F9F9"/>
                </a:solidFill>
                <a:latin typeface="Public Sans"/>
                <a:ea typeface="Public Sans"/>
                <a:cs typeface="Public Sans"/>
                <a:sym typeface="Public Sans"/>
              </a:rPr>
              <a:t>From paper description</a:t>
            </a:r>
          </a:p>
        </p:txBody>
      </p:sp>
      <p:sp>
        <p:nvSpPr>
          <p:cNvPr name="TextBox 24" id="24"/>
          <p:cNvSpPr txBox="true"/>
          <p:nvPr/>
        </p:nvSpPr>
        <p:spPr>
          <a:xfrm rot="0">
            <a:off x="11717111" y="5140068"/>
            <a:ext cx="2520710" cy="260985"/>
          </a:xfrm>
          <a:prstGeom prst="rect">
            <a:avLst/>
          </a:prstGeom>
        </p:spPr>
        <p:txBody>
          <a:bodyPr anchor="t" rtlCol="false" tIns="0" lIns="0" bIns="0" rIns="0">
            <a:spAutoFit/>
          </a:bodyPr>
          <a:lstStyle/>
          <a:p>
            <a:pPr algn="l" marL="0" indent="0" lvl="0">
              <a:lnSpc>
                <a:spcPts val="2059"/>
              </a:lnSpc>
            </a:pPr>
            <a:r>
              <a:rPr lang="en-US" sz="1471" spc="-108">
                <a:solidFill>
                  <a:srgbClr val="000000"/>
                </a:solidFill>
                <a:latin typeface="Public Sans"/>
                <a:ea typeface="Public Sans"/>
                <a:cs typeface="Public Sans"/>
                <a:sym typeface="Public Sans"/>
              </a:rPr>
              <a:t>85.84% Acc · 93.14% AUROC</a:t>
            </a:r>
          </a:p>
        </p:txBody>
      </p:sp>
      <p:sp>
        <p:nvSpPr>
          <p:cNvPr name="TextBox 25" id="25"/>
          <p:cNvSpPr txBox="true"/>
          <p:nvPr/>
        </p:nvSpPr>
        <p:spPr>
          <a:xfrm rot="0">
            <a:off x="13863329" y="2632993"/>
            <a:ext cx="2217449" cy="207741"/>
          </a:xfrm>
          <a:prstGeom prst="rect">
            <a:avLst/>
          </a:prstGeom>
        </p:spPr>
        <p:txBody>
          <a:bodyPr anchor="t" rtlCol="false" tIns="0" lIns="0" bIns="0" rIns="0">
            <a:spAutoFit/>
          </a:bodyPr>
          <a:lstStyle/>
          <a:p>
            <a:pPr algn="l" marL="0" indent="0" lvl="0">
              <a:lnSpc>
                <a:spcPts val="1680"/>
              </a:lnSpc>
            </a:pPr>
            <a:r>
              <a:rPr lang="en-US" sz="1200" spc="-88">
                <a:solidFill>
                  <a:srgbClr val="F9F9F9"/>
                </a:solidFill>
                <a:latin typeface="Public Sans"/>
                <a:ea typeface="Public Sans"/>
                <a:cs typeface="Public Sans"/>
                <a:sym typeface="Public Sans"/>
              </a:rPr>
              <a:t>✓ Validated</a:t>
            </a:r>
          </a:p>
        </p:txBody>
      </p:sp>
      <p:sp>
        <p:nvSpPr>
          <p:cNvPr name="TextBox 26" id="26"/>
          <p:cNvSpPr txBox="true"/>
          <p:nvPr/>
        </p:nvSpPr>
        <p:spPr>
          <a:xfrm rot="0">
            <a:off x="11717111" y="5458045"/>
            <a:ext cx="2217449" cy="207741"/>
          </a:xfrm>
          <a:prstGeom prst="rect">
            <a:avLst/>
          </a:prstGeom>
        </p:spPr>
        <p:txBody>
          <a:bodyPr anchor="t" rtlCol="false" tIns="0" lIns="0" bIns="0" rIns="0">
            <a:spAutoFit/>
          </a:bodyPr>
          <a:lstStyle/>
          <a:p>
            <a:pPr algn="l" marL="0" indent="0" lvl="0">
              <a:lnSpc>
                <a:spcPts val="1680"/>
              </a:lnSpc>
            </a:pPr>
            <a:r>
              <a:rPr lang="en-US" sz="1200" spc="-88">
                <a:solidFill>
                  <a:srgbClr val="000000"/>
                </a:solidFill>
                <a:latin typeface="Public Sans"/>
                <a:ea typeface="Public Sans"/>
                <a:cs typeface="Public Sans"/>
                <a:sym typeface="Public Sans"/>
              </a:rPr>
              <a:t>✓ Achieved</a:t>
            </a:r>
          </a:p>
        </p:txBody>
      </p:sp>
      <p:sp>
        <p:nvSpPr>
          <p:cNvPr name="TextBox 27" id="27"/>
          <p:cNvSpPr txBox="true"/>
          <p:nvPr/>
        </p:nvSpPr>
        <p:spPr>
          <a:xfrm rot="0">
            <a:off x="13863329" y="7580769"/>
            <a:ext cx="3029636" cy="282849"/>
          </a:xfrm>
          <a:prstGeom prst="rect">
            <a:avLst/>
          </a:prstGeom>
        </p:spPr>
        <p:txBody>
          <a:bodyPr anchor="t" rtlCol="false" tIns="0" lIns="0" bIns="0" rIns="0">
            <a:spAutoFit/>
          </a:bodyPr>
          <a:lstStyle/>
          <a:p>
            <a:pPr algn="l" marL="0" indent="0" lvl="0">
              <a:lnSpc>
                <a:spcPts val="2250"/>
              </a:lnSpc>
            </a:pPr>
            <a:r>
              <a:rPr lang="en-US" sz="1607" spc="-118">
                <a:solidFill>
                  <a:srgbClr val="F9F9F9"/>
                </a:solidFill>
                <a:latin typeface="Public Sans"/>
                <a:ea typeface="Public Sans"/>
                <a:cs typeface="Public Sans"/>
                <a:sym typeface="Public Sans"/>
              </a:rPr>
              <a:t>Next Steps</a:t>
            </a:r>
          </a:p>
        </p:txBody>
      </p:sp>
      <p:sp>
        <p:nvSpPr>
          <p:cNvPr name="TextBox 28" id="28"/>
          <p:cNvSpPr txBox="true"/>
          <p:nvPr/>
        </p:nvSpPr>
        <p:spPr>
          <a:xfrm rot="0">
            <a:off x="13863329" y="8113103"/>
            <a:ext cx="2520710" cy="260985"/>
          </a:xfrm>
          <a:prstGeom prst="rect">
            <a:avLst/>
          </a:prstGeom>
        </p:spPr>
        <p:txBody>
          <a:bodyPr anchor="t" rtlCol="false" tIns="0" lIns="0" bIns="0" rIns="0">
            <a:spAutoFit/>
          </a:bodyPr>
          <a:lstStyle/>
          <a:p>
            <a:pPr algn="l" marL="0" indent="0" lvl="0">
              <a:lnSpc>
                <a:spcPts val="2059"/>
              </a:lnSpc>
            </a:pPr>
            <a:r>
              <a:rPr lang="en-US" sz="1471" spc="-108">
                <a:solidFill>
                  <a:srgbClr val="F9F9F9"/>
                </a:solidFill>
                <a:latin typeface="Public Sans"/>
                <a:ea typeface="Public Sans"/>
                <a:cs typeface="Public Sans"/>
                <a:sym typeface="Public Sans"/>
              </a:rPr>
              <a:t>Scale Up &amp; Complete Ablations</a:t>
            </a:r>
          </a:p>
        </p:txBody>
      </p:sp>
      <p:sp>
        <p:nvSpPr>
          <p:cNvPr name="TextBox 29" id="29"/>
          <p:cNvSpPr txBox="true"/>
          <p:nvPr/>
        </p:nvSpPr>
        <p:spPr>
          <a:xfrm rot="0">
            <a:off x="13863329" y="8431080"/>
            <a:ext cx="2217449" cy="207741"/>
          </a:xfrm>
          <a:prstGeom prst="rect">
            <a:avLst/>
          </a:prstGeom>
        </p:spPr>
        <p:txBody>
          <a:bodyPr anchor="t" rtlCol="false" tIns="0" lIns="0" bIns="0" rIns="0">
            <a:spAutoFit/>
          </a:bodyPr>
          <a:lstStyle/>
          <a:p>
            <a:pPr algn="l" marL="0" indent="0" lvl="0">
              <a:lnSpc>
                <a:spcPts val="1680"/>
              </a:lnSpc>
            </a:pPr>
            <a:r>
              <a:rPr lang="en-US" sz="1200" spc="-88">
                <a:solidFill>
                  <a:srgbClr val="F9F9F9"/>
                </a:solidFill>
                <a:latin typeface="Public Sans"/>
                <a:ea typeface="Public Sans"/>
                <a:cs typeface="Public Sans"/>
                <a:sym typeface="Public Sans"/>
              </a:rPr>
              <a:t>→ Future Work</a:t>
            </a:r>
          </a:p>
        </p:txBody>
      </p:sp>
      <p:sp>
        <p:nvSpPr>
          <p:cNvPr name="TextBox 30" id="30"/>
          <p:cNvSpPr txBox="true"/>
          <p:nvPr/>
        </p:nvSpPr>
        <p:spPr>
          <a:xfrm rot="0">
            <a:off x="1392728" y="4463934"/>
            <a:ext cx="3701509" cy="818629"/>
          </a:xfrm>
          <a:prstGeom prst="rect">
            <a:avLst/>
          </a:prstGeom>
        </p:spPr>
        <p:txBody>
          <a:bodyPr anchor="t" rtlCol="false" tIns="0" lIns="0" bIns="0" rIns="0">
            <a:spAutoFit/>
          </a:bodyPr>
          <a:lstStyle/>
          <a:p>
            <a:pPr algn="l" marL="0" indent="0" lvl="0">
              <a:lnSpc>
                <a:spcPts val="3231"/>
              </a:lnSpc>
            </a:pPr>
            <a:r>
              <a:rPr lang="en-US" sz="2307" spc="-170">
                <a:solidFill>
                  <a:srgbClr val="F9F9F9"/>
                </a:solidFill>
                <a:latin typeface="Public Sans"/>
                <a:ea typeface="Public Sans"/>
                <a:cs typeface="Public Sans"/>
                <a:sym typeface="Public Sans"/>
              </a:rPr>
              <a:t>Key</a:t>
            </a:r>
          </a:p>
          <a:p>
            <a:pPr algn="l" marL="0" indent="0" lvl="0">
              <a:lnSpc>
                <a:spcPts val="3231"/>
              </a:lnSpc>
            </a:pPr>
            <a:r>
              <a:rPr lang="en-US" sz="2307" spc="-170">
                <a:solidFill>
                  <a:srgbClr val="F9F9F9"/>
                </a:solidFill>
                <a:latin typeface="Public Sans"/>
                <a:ea typeface="Public Sans"/>
                <a:cs typeface="Public Sans"/>
                <a:sym typeface="Public Sans"/>
              </a:rPr>
              <a:t>Takeaways</a:t>
            </a:r>
          </a:p>
        </p:txBody>
      </p:sp>
      <p:sp>
        <p:nvSpPr>
          <p:cNvPr name="TextBox 31" id="31"/>
          <p:cNvSpPr txBox="true"/>
          <p:nvPr/>
        </p:nvSpPr>
        <p:spPr>
          <a:xfrm rot="0">
            <a:off x="3954748" y="4727654"/>
            <a:ext cx="4234459" cy="1654829"/>
          </a:xfrm>
          <a:prstGeom prst="rect">
            <a:avLst/>
          </a:prstGeom>
        </p:spPr>
        <p:txBody>
          <a:bodyPr anchor="t" rtlCol="false" tIns="0" lIns="0" bIns="0" rIns="0">
            <a:spAutoFit/>
          </a:bodyPr>
          <a:lstStyle/>
          <a:p>
            <a:pPr algn="l" marL="0" indent="0" lvl="0">
              <a:lnSpc>
                <a:spcPts val="2238"/>
              </a:lnSpc>
            </a:pPr>
            <a:r>
              <a:rPr lang="en-US" sz="1599" spc="-118">
                <a:solidFill>
                  <a:srgbClr val="F9F9F9"/>
                </a:solidFill>
                <a:latin typeface="Public Sans"/>
                <a:ea typeface="Public Sans"/>
                <a:cs typeface="Public Sans"/>
                <a:sym typeface="Public Sans"/>
              </a:rPr>
              <a:t>Successfully reimplemented ISTVT from paper description alone</a:t>
            </a:r>
          </a:p>
          <a:p>
            <a:pPr algn="l" marL="0" indent="0" lvl="0">
              <a:lnSpc>
                <a:spcPts val="2238"/>
              </a:lnSpc>
            </a:pPr>
            <a:r>
              <a:rPr lang="en-US" sz="1599" spc="-118">
                <a:solidFill>
                  <a:srgbClr val="F9F9F9"/>
                </a:solidFill>
                <a:latin typeface="Public Sans"/>
                <a:ea typeface="Public Sans"/>
                <a:cs typeface="Public Sans"/>
                <a:sym typeface="Public Sans"/>
              </a:rPr>
              <a:t>Achieved strong results on real, modest-sized video dataset</a:t>
            </a:r>
          </a:p>
          <a:p>
            <a:pPr algn="l" marL="0" indent="0" lvl="0">
              <a:lnSpc>
                <a:spcPts val="2238"/>
              </a:lnSpc>
            </a:pPr>
            <a:r>
              <a:rPr lang="en-US" sz="1599" spc="-118">
                <a:solidFill>
                  <a:srgbClr val="F9F9F9"/>
                </a:solidFill>
                <a:latin typeface="Public Sans"/>
                <a:ea typeface="Public Sans"/>
                <a:cs typeface="Public Sans"/>
                <a:sym typeface="Public Sans"/>
              </a:rPr>
              <a:t>Implemented genuine LRP interpretability, not shortcuts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0" y="6206163"/>
            <a:ext cx="18288000" cy="2625529"/>
          </a:xfrm>
          <a:custGeom>
            <a:avLst/>
            <a:gdLst/>
            <a:ahLst/>
            <a:cxnLst/>
            <a:rect r="r" b="b" t="t" l="l"/>
            <a:pathLst>
              <a:path h="2625529" w="18288000">
                <a:moveTo>
                  <a:pt x="0" y="0"/>
                </a:moveTo>
                <a:lnTo>
                  <a:pt x="18288000" y="0"/>
                </a:lnTo>
                <a:lnTo>
                  <a:pt x="18288000" y="2625529"/>
                </a:lnTo>
                <a:lnTo>
                  <a:pt x="0" y="2625529"/>
                </a:lnTo>
                <a:lnTo>
                  <a:pt x="0" y="0"/>
                </a:lnTo>
                <a:close/>
              </a:path>
            </a:pathLst>
          </a:custGeom>
          <a:blipFill>
            <a:blip r:embed="rId3">
              <a:alphaModFix amt="70000"/>
            </a:blip>
            <a:stretch>
              <a:fillRect l="0" t="-256835" r="0" b="-107950"/>
            </a:stretch>
          </a:blipFill>
        </p:spPr>
      </p:sp>
      <p:grpSp>
        <p:nvGrpSpPr>
          <p:cNvPr name="Group 4" id="4"/>
          <p:cNvGrpSpPr/>
          <p:nvPr/>
        </p:nvGrpSpPr>
        <p:grpSpPr>
          <a:xfrm rot="0">
            <a:off x="652480" y="5007947"/>
            <a:ext cx="3340539" cy="757878"/>
            <a:chOff x="0" y="0"/>
            <a:chExt cx="1791311" cy="406400"/>
          </a:xfrm>
        </p:grpSpPr>
        <p:sp>
          <p:nvSpPr>
            <p:cNvPr name="Freeform 5" id="5"/>
            <p:cNvSpPr/>
            <p:nvPr/>
          </p:nvSpPr>
          <p:spPr>
            <a:xfrm flipH="false" flipV="false" rot="0">
              <a:off x="0" y="0"/>
              <a:ext cx="1791311" cy="406400"/>
            </a:xfrm>
            <a:custGeom>
              <a:avLst/>
              <a:gdLst/>
              <a:ahLst/>
              <a:cxnLst/>
              <a:rect r="r" b="b" t="t" l="l"/>
              <a:pathLst>
                <a:path h="406400" w="1791311">
                  <a:moveTo>
                    <a:pt x="1588111" y="0"/>
                  </a:moveTo>
                  <a:cubicBezTo>
                    <a:pt x="1700335" y="0"/>
                    <a:pt x="1791311" y="90976"/>
                    <a:pt x="1791311" y="203200"/>
                  </a:cubicBezTo>
                  <a:cubicBezTo>
                    <a:pt x="1791311" y="315424"/>
                    <a:pt x="1700335" y="406400"/>
                    <a:pt x="158811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9F9F9">
                    <a:alpha val="25000"/>
                  </a:srgbClr>
                </a:gs>
                <a:gs pos="50000">
                  <a:srgbClr val="F9F9F9">
                    <a:alpha val="48000"/>
                  </a:srgbClr>
                </a:gs>
                <a:gs pos="100000">
                  <a:srgbClr val="F9F9F9">
                    <a:alpha val="25000"/>
                  </a:srgbClr>
                </a:gs>
              </a:gsLst>
              <a:lin ang="2700000"/>
            </a:gradFill>
            <a:ln w="9525" cap="sq">
              <a:gradFill>
                <a:gsLst>
                  <a:gs pos="0">
                    <a:srgbClr val="F9F9F9">
                      <a:alpha val="100000"/>
                    </a:srgbClr>
                  </a:gs>
                  <a:gs pos="25000">
                    <a:srgbClr val="969696">
                      <a:alpha val="44500"/>
                    </a:srgbClr>
                  </a:gs>
                  <a:gs pos="50000">
                    <a:srgbClr val="F9F9F9">
                      <a:alpha val="100000"/>
                    </a:srgbClr>
                  </a:gs>
                  <a:gs pos="75000">
                    <a:srgbClr val="969696">
                      <a:alpha val="45000"/>
                    </a:srgbClr>
                  </a:gs>
                  <a:gs pos="100000">
                    <a:srgbClr val="F9F9F9">
                      <a:alpha val="100000"/>
                    </a:srgbClr>
                  </a:gs>
                </a:gsLst>
                <a:lin ang="2700000"/>
              </a:gradFill>
              <a:prstDash val="solid"/>
              <a:miter/>
            </a:ln>
          </p:spPr>
        </p:sp>
        <p:sp>
          <p:nvSpPr>
            <p:cNvPr name="TextBox 6" id="6"/>
            <p:cNvSpPr txBox="true"/>
            <p:nvPr/>
          </p:nvSpPr>
          <p:spPr>
            <a:xfrm>
              <a:off x="0" y="-38100"/>
              <a:ext cx="1791311"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7" id="7"/>
          <p:cNvSpPr/>
          <p:nvPr/>
        </p:nvSpPr>
        <p:spPr>
          <a:xfrm flipV="true">
            <a:off x="4222095" y="5385239"/>
            <a:ext cx="4923362" cy="0"/>
          </a:xfrm>
          <a:prstGeom prst="line">
            <a:avLst/>
          </a:prstGeom>
          <a:ln cap="flat" w="19050">
            <a:solidFill>
              <a:srgbClr val="FFFFFF"/>
            </a:solidFill>
            <a:prstDash val="solid"/>
            <a:headEnd type="none" len="sm" w="sm"/>
            <a:tailEnd type="none" len="sm" w="sm"/>
          </a:ln>
        </p:spPr>
      </p:sp>
      <p:sp>
        <p:nvSpPr>
          <p:cNvPr name="TextBox 8" id="8"/>
          <p:cNvSpPr txBox="true"/>
          <p:nvPr/>
        </p:nvSpPr>
        <p:spPr>
          <a:xfrm rot="0">
            <a:off x="316889" y="638571"/>
            <a:ext cx="4366873" cy="390129"/>
          </a:xfrm>
          <a:prstGeom prst="rect">
            <a:avLst/>
          </a:prstGeom>
        </p:spPr>
        <p:txBody>
          <a:bodyPr anchor="t" rtlCol="false" tIns="0" lIns="0" bIns="0" rIns="0">
            <a:spAutoFit/>
          </a:bodyPr>
          <a:lstStyle/>
          <a:p>
            <a:pPr algn="l" marL="0" indent="0" lvl="0">
              <a:lnSpc>
                <a:spcPts val="3171"/>
              </a:lnSpc>
            </a:pPr>
            <a:r>
              <a:rPr lang="en-US" sz="2265" spc="-81">
                <a:solidFill>
                  <a:srgbClr val="FFFFFF"/>
                </a:solidFill>
                <a:latin typeface="Helvetica World"/>
                <a:ea typeface="Helvetica World"/>
                <a:cs typeface="Helvetica World"/>
                <a:sym typeface="Helvetica World"/>
              </a:rPr>
              <a:t>ISTVT: DEEPFAKE DETECTION</a:t>
            </a:r>
          </a:p>
        </p:txBody>
      </p:sp>
      <p:sp>
        <p:nvSpPr>
          <p:cNvPr name="TextBox 9" id="9"/>
          <p:cNvSpPr txBox="true"/>
          <p:nvPr/>
        </p:nvSpPr>
        <p:spPr>
          <a:xfrm rot="0">
            <a:off x="847434" y="5011590"/>
            <a:ext cx="2950633" cy="424225"/>
          </a:xfrm>
          <a:prstGeom prst="rect">
            <a:avLst/>
          </a:prstGeom>
        </p:spPr>
        <p:txBody>
          <a:bodyPr anchor="t" rtlCol="false" tIns="0" lIns="0" bIns="0" rIns="0">
            <a:spAutoFit/>
          </a:bodyPr>
          <a:lstStyle/>
          <a:p>
            <a:pPr algn="ctr" marL="0" indent="0" lvl="0">
              <a:lnSpc>
                <a:spcPts val="3432"/>
              </a:lnSpc>
            </a:pPr>
            <a:r>
              <a:rPr lang="en-US" sz="2452" spc="-154">
                <a:solidFill>
                  <a:srgbClr val="F9F9F9"/>
                </a:solidFill>
                <a:latin typeface="Public Sans Light"/>
                <a:ea typeface="Public Sans Light"/>
                <a:cs typeface="Public Sans Light"/>
                <a:sym typeface="Public Sans Light"/>
              </a:rPr>
              <a:t>Questions &amp; Discussion</a:t>
            </a:r>
          </a:p>
        </p:txBody>
      </p:sp>
      <p:sp>
        <p:nvSpPr>
          <p:cNvPr name="TextBox 10" id="10"/>
          <p:cNvSpPr txBox="true"/>
          <p:nvPr/>
        </p:nvSpPr>
        <p:spPr>
          <a:xfrm rot="0">
            <a:off x="652480" y="6701463"/>
            <a:ext cx="11245014" cy="2155984"/>
          </a:xfrm>
          <a:prstGeom prst="rect">
            <a:avLst/>
          </a:prstGeom>
        </p:spPr>
        <p:txBody>
          <a:bodyPr anchor="t" rtlCol="false" tIns="0" lIns="0" bIns="0" rIns="0">
            <a:spAutoFit/>
          </a:bodyPr>
          <a:lstStyle/>
          <a:p>
            <a:pPr algn="l" marL="0" indent="0" lvl="0">
              <a:lnSpc>
                <a:spcPts val="15731"/>
              </a:lnSpc>
            </a:pPr>
            <a:r>
              <a:rPr lang="en-US" sz="17479" spc="-1048">
                <a:solidFill>
                  <a:srgbClr val="FFFFFF"/>
                </a:solidFill>
                <a:latin typeface="TT Interphases"/>
                <a:ea typeface="TT Interphases"/>
                <a:cs typeface="TT Interphases"/>
                <a:sym typeface="TT Interphases"/>
              </a:rPr>
              <a:t>THANK YOU</a:t>
            </a:r>
          </a:p>
        </p:txBody>
      </p:sp>
      <p:sp>
        <p:nvSpPr>
          <p:cNvPr name="TextBox 11" id="11"/>
          <p:cNvSpPr txBox="true"/>
          <p:nvPr/>
        </p:nvSpPr>
        <p:spPr>
          <a:xfrm rot="0">
            <a:off x="13752824" y="390134"/>
            <a:ext cx="4115179" cy="807101"/>
          </a:xfrm>
          <a:prstGeom prst="rect">
            <a:avLst/>
          </a:prstGeom>
        </p:spPr>
        <p:txBody>
          <a:bodyPr anchor="t" rtlCol="false" tIns="0" lIns="0" bIns="0" rIns="0">
            <a:spAutoFit/>
          </a:bodyPr>
          <a:lstStyle/>
          <a:p>
            <a:pPr algn="r" marL="0" indent="0" lvl="0">
              <a:lnSpc>
                <a:spcPts val="3289"/>
              </a:lnSpc>
            </a:pPr>
            <a:r>
              <a:rPr lang="en-US" b="true" sz="2349" spc="-103">
                <a:solidFill>
                  <a:srgbClr val="FFFFFF"/>
                </a:solidFill>
                <a:latin typeface="Public Sans Bold"/>
                <a:ea typeface="Public Sans Bold"/>
                <a:cs typeface="Public Sans Bold"/>
                <a:sym typeface="Public Sans Bold"/>
              </a:rPr>
              <a:t>Indian Institute of Technology Kanpur</a:t>
            </a:r>
          </a:p>
        </p:txBody>
      </p:sp>
      <p:sp>
        <p:nvSpPr>
          <p:cNvPr name="Freeform 12" id="12"/>
          <p:cNvSpPr/>
          <p:nvPr/>
        </p:nvSpPr>
        <p:spPr>
          <a:xfrm flipH="false" flipV="false" rot="0">
            <a:off x="12125078" y="3424113"/>
            <a:ext cx="7047575" cy="5858297"/>
          </a:xfrm>
          <a:custGeom>
            <a:avLst/>
            <a:gdLst/>
            <a:ahLst/>
            <a:cxnLst/>
            <a:rect r="r" b="b" t="t" l="l"/>
            <a:pathLst>
              <a:path h="5858297" w="7047575">
                <a:moveTo>
                  <a:pt x="0" y="0"/>
                </a:moveTo>
                <a:lnTo>
                  <a:pt x="7047575" y="0"/>
                </a:lnTo>
                <a:lnTo>
                  <a:pt x="7047575" y="5858297"/>
                </a:lnTo>
                <a:lnTo>
                  <a:pt x="0" y="5858297"/>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DAHN8DNLwUs</dc:identifier>
  <dcterms:modified xsi:type="dcterms:W3CDTF">2011-08-01T06:04:30Z</dcterms:modified>
  <cp:revision>1</cp:revision>
  <dc:title>ISTVT: Interpretable Spatial-Temporal Deepfake Detection</dc:title>
</cp:coreProperties>
</file>